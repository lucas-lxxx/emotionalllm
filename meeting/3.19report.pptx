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4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1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各位老师好，今天汇报的题目是 Adversarial Emotion Manipulation against Audio Large Language Models，由徐振宇和李享共同完成。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汇报将分为六个部分。</a:t>
            </a:r>
          </a:p>
          <a:p>
            <a:endParaRPr lang="zh-CN" dirty="0"/>
          </a:p>
          <a:p>
            <a:r>
              <a:rPr lang="zh-CN" dirty="0"/>
              <a:t>首先介绍研究背景，然后说明我们的 Motivation，接着是核心的 Observation 部分——通过 Q1 到 Q4 四个递进问题展开。之后介绍攻击设计框架，展示初步实验结果，最后总结与讨论。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首先是背景介绍。</a:t>
            </a:r>
          </a:p>
          <a:p>
            <a:endParaRPr lang="zh-CN" dirty="0"/>
          </a:p>
          <a:p>
            <a:r>
              <a:rPr lang="zh-CN" dirty="0"/>
              <a:t>音频不同于纯文字转写，它同时携带语义信息和副语言信息，包括韵律、情绪和说话人身份。当前主流的 Audio LLM 包括 OpenS2S、Kimi-Audio 和 Voxtral 等模型。</a:t>
            </a:r>
          </a:p>
          <a:p>
            <a:endParaRPr lang="zh-CN" dirty="0"/>
          </a:p>
          <a:p>
            <a:r>
              <a:rPr lang="zh-CN" dirty="0"/>
              <a:t>在安全研究方面，文本 LLM 有 GCG 攻击，视觉多模态有 Mirage，音频方向有 SpeechGuard。但在情绪维度，目前是空白的——这正是我们研究要填补的方向。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那么已有的攻击都在做什么呢？</a:t>
            </a:r>
          </a:p>
          <a:p>
            <a:endParaRPr lang="zh-CN" dirty="0"/>
          </a:p>
          <a:p>
            <a:r>
              <a:rPr lang="zh-CN" dirty="0"/>
              <a:t>从 C&amp;W 到 SpeechGuard 再到 WhisperInject 和 AJailBench，已有工作主要攻击两个方向：ASR 语义转写和安全对齐机制。Feng 等人虽然观察了情绪对安全性的影响，但并非攻击工作。</a:t>
            </a:r>
          </a:p>
          <a:p>
            <a:endParaRPr lang="zh-CN" dirty="0"/>
          </a:p>
          <a:p>
            <a:r>
              <a:rPr lang="zh-CN" dirty="0"/>
              <a:t>[停顿] 关键在于：没有人攻击过 ALLM 的情绪感知能力。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为什么我们要攻击情绪？三个原因。</a:t>
            </a:r>
          </a:p>
          <a:p>
            <a:endParaRPr lang="zh-CN" dirty="0"/>
          </a:p>
          <a:p>
            <a:r>
              <a:rPr lang="zh-CN" dirty="0"/>
              <a:t>第一，下游决策直接依赖情绪判断。心理咨询、语音客服、情感陪伴场景中，情绪误判会导致完全不当的回复策略。</a:t>
            </a:r>
          </a:p>
          <a:p>
            <a:endParaRPr lang="zh-CN" dirty="0"/>
          </a:p>
          <a:p>
            <a:r>
              <a:rPr lang="zh-CN" dirty="0"/>
              <a:t>第二，LLM 的发展趋势是越来越关注人类情绪。具身智能、情感计算与 LLM 的融合，以及语音助手的拟人化方向，都使情绪感知成为核心能力，攻击面也随之扩大。</a:t>
            </a:r>
          </a:p>
          <a:p>
            <a:endParaRPr lang="zh-CN" dirty="0"/>
          </a:p>
          <a:p>
            <a:r>
              <a:rPr lang="zh-CN" dirty="0"/>
              <a:t>第三，这种攻击隐蔽性极强。扰动不可感知，语义完全不变，仅改变情绪感知——是最难检测的攻击形式。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接下来进入核心的 Observation 部分。第一个问题：音频情绪可以翻转吗？</a:t>
            </a:r>
          </a:p>
          <a:p>
            <a:endParaRPr lang="zh-CN" dirty="0"/>
          </a:p>
          <a:p>
            <a:r>
              <a:rPr lang="zh-CN" dirty="0"/>
              <a:t>我们在 Qwen2-Audio 上测试了 400 个样本。一个关键发现是：模型的情绪输出不是 one-hot 的，而是一个 structured preference distribution。</a:t>
            </a:r>
          </a:p>
          <a:p>
            <a:endParaRPr lang="zh-CN" dirty="0"/>
          </a:p>
          <a:p>
            <a:r>
              <a:rPr lang="zh-CN" dirty="0"/>
              <a:t>从表格可以看到，各情绪的稳定性差异很大。happy 最弱，85% 的样本其目标分数低于最强 competitor。而 angry 是万能 competitor，在所有情绪中都占据主导位置。</a:t>
            </a:r>
          </a:p>
          <a:p>
            <a:endParaRPr lang="zh-CN" dirty="0"/>
          </a:p>
          <a:p>
            <a:r>
              <a:rPr lang="zh-CN" dirty="0"/>
              <a:t>另外，angry 和 happy 的 Prototype 相似性最高，JS 散度仅 0.0195，说明翻转阻力最小。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第二个问题：情绪翻转了会有什么后果？</a:t>
            </a:r>
          </a:p>
          <a:p>
            <a:endParaRPr lang="zh-CN" dirty="0"/>
          </a:p>
          <a:p>
            <a:r>
              <a:rPr lang="zh-CN" dirty="0"/>
              <a:t>我们在 Voxtral 上做了 Aligned 和 Conflict prompt 的对比实验。当情绪感知与实际情绪冲突时，Faithfulness 下降 1.27 分，Empathy 下降 1.13 分，Relevance 下降 1.00 分。</a:t>
            </a:r>
          </a:p>
          <a:p>
            <a:endParaRPr lang="zh-CN" dirty="0"/>
          </a:p>
          <a:p>
            <a:r>
              <a:rPr lang="zh-CN" dirty="0"/>
              <a:t>[停顿] 具体来看，happy 最脆弱，Empathy 下降高达 3 分；sad 最鲁棒，几乎不受影响；而 neutral 是幻觉的温床，Faithfulness 仅 1.33 分。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第三个问题：传统 SER 攻击方法对 ALLM 有效吗？</a:t>
            </a:r>
          </a:p>
          <a:p>
            <a:endParaRPr lang="zh-CN" dirty="0"/>
          </a:p>
          <a:p>
            <a:r>
              <a:rPr lang="zh-CN" dirty="0"/>
              <a:t>这个实验目前还在准备中。我们的假设是：针对独立 SER 分类器生成的对抗样本，迁移到 ALLM 上翻转率会很低。原因在于 ALLM 的情绪判断路径和独立分类器完全不同。</a:t>
            </a:r>
          </a:p>
          <a:p>
            <a:endParaRPr lang="zh-CN" dirty="0"/>
          </a:p>
          <a:p>
            <a:r>
              <a:rPr lang="zh-CN" dirty="0"/>
              <a:t>这也正是我们需要设计 ALLM-specific 攻击方法的原因。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第四个问题：情绪表征的内部结构是什么样的？</a:t>
            </a:r>
          </a:p>
          <a:p>
            <a:endParaRPr lang="zh-CN" dirty="0"/>
          </a:p>
          <a:p>
            <a:r>
              <a:rPr lang="zh-CN" dirty="0"/>
              <a:t>我们分析了每类情绪的 Prototype posterior 和 Prediction confusion。</a:t>
            </a:r>
          </a:p>
          <a:p>
            <a:endParaRPr lang="zh-CN" dirty="0"/>
          </a:p>
          <a:p>
            <a:r>
              <a:rPr lang="zh-CN" dirty="0"/>
              <a:t>关键发现：happy 的 prototype 实际上偏向 angry，angry 概率 0.460 远高于 happy 自身的 0.140。neutral 也不以自身为中心。在混淆矩阵中，happy 最常被判为 angry，neutral 在 angry 和 sad 之间分裂，存在一个 anger-oriented 的重叠区域。</a:t>
            </a:r>
          </a:p>
          <a:p>
            <a:endParaRPr lang="zh-CN" dirty="0"/>
          </a:p>
          <a:p>
            <a:r>
              <a:rPr lang="zh-CN" dirty="0"/>
              <a:t>[停顿] 这对攻击设计的启示是：不宜只用 hard target CE，需要 hybrid margin 加 soft distribution steering，并且需要 pair-specific 策略。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基于以上观察，我们设计了攻击框架。</a:t>
            </a:r>
          </a:p>
          <a:p>
            <a:endParaRPr lang="zh-CN" dirty="0"/>
          </a:p>
          <a:p>
            <a:r>
              <a:rPr lang="zh-CN" dirty="0"/>
              <a:t>损失函数由三部分组成：L_emo 负责情绪翻转，L_asr 负责语义保持，L_per 负责感知质量。</a:t>
            </a:r>
          </a:p>
          <a:p>
            <a:endParaRPr lang="zh-CN" dirty="0"/>
          </a:p>
          <a:p>
            <a:r>
              <a:rPr lang="zh-CN" dirty="0"/>
              <a:t>采用两阶段调度：前 20 步情绪优先，后 40 步兼顾语义和可闻性。同时使用多 Prompt 集成和 EoT 增强来提高鲁棒性。扰动约束为 L 无穷范数不超过 0.008。</a:t>
            </a:r>
          </a:p>
          <a:p>
            <a:endParaRPr lang="zh-CN" dirty="0"/>
          </a:p>
          <a:p>
            <a:r>
              <a:rPr lang="zh-CN" dirty="0"/>
              <a:t>需要说明的是，这是 v1 版本的方法论，后续会根据 Q4 的实验启示进行迭代。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来看白盒实验的攻击成功率。</a:t>
            </a:r>
          </a:p>
          <a:p>
            <a:endParaRPr lang="zh-CN" dirty="0"/>
          </a:p>
          <a:p>
            <a:r>
              <a:rPr lang="zh-CN" dirty="0"/>
              <a:t>在 OpenS2S 上，多数投票 ASR 为 78.44%，单 Prompt 最高可达 94.66%。在 Voxtral 上效果更好，多数投票 ASR 达到 93.80%，单 Prompt 最高 99.90%。</a:t>
            </a:r>
          </a:p>
          <a:p>
            <a:endParaRPr lang="zh-CN" dirty="0"/>
          </a:p>
          <a:p>
            <a:r>
              <a:rPr lang="zh-CN" dirty="0"/>
              <a:t>按源情绪细分，Voxtral 上各情绪翻转率都在 92% 以上，说明攻击在不同情绪上都是有效的。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再看语义保持和扰动质量。</a:t>
            </a:r>
          </a:p>
          <a:p>
            <a:endParaRPr lang="zh-CN" dirty="0"/>
          </a:p>
          <a:p>
            <a:r>
              <a:rPr lang="zh-CN" dirty="0"/>
              <a:t>语义保留率方面，OpenS2S 仅 19.43%，Voxtral 为 39.75%。联合成功率分别为 15.07% 和 36.40%。SNR 方面 Voxtral 也优于 OpenS2S。</a:t>
            </a:r>
          </a:p>
          <a:p>
            <a:endParaRPr lang="zh-CN" dirty="0"/>
          </a:p>
          <a:p>
            <a:r>
              <a:rPr lang="zh-CN" dirty="0"/>
              <a:t>[停顿] 核心瓶颈很明确：语义保持是联合成功率的限制因素。下一步我们将完成 Q3 实验、基于 Q4 启示迭代方法论，并探索黑盒攻击。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感谢各位老师的聆听，以上就是我们的汇报。欢迎提问和讨论。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DA51D9-A2EB-D634-3926-AB3411F342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F6D223-110F-576E-803F-4F75DEE653EE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3DBAFC-D49F-55CB-BB92-67BBDCB7AA7E}"/>
              </a:ext>
            </a:extLst>
          </p:cNvPr>
          <p:cNvSpPr txBox="1"/>
          <p:nvPr/>
        </p:nvSpPr>
        <p:spPr>
          <a:xfrm>
            <a:off x="2392278" y="1987327"/>
            <a:ext cx="7407443" cy="64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300" b="1" spc="0" baseline="0" dirty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Adversarial Emotion Manipulation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B42C6A-4D75-58E7-196A-518609C3E5B4}"/>
              </a:ext>
            </a:extLst>
          </p:cNvPr>
          <p:cNvSpPr txBox="1"/>
          <p:nvPr/>
        </p:nvSpPr>
        <p:spPr>
          <a:xfrm>
            <a:off x="1958955" y="2539777"/>
            <a:ext cx="8274088" cy="64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300" b="1" spc="0" baseline="0" dirty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against Audio Large Language Models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64CCB39F-5D9F-AF13-D46C-BD45264FDFCC}"/>
              </a:ext>
            </a:extLst>
          </p:cNvPr>
          <p:cNvSpPr/>
          <p:nvPr/>
        </p:nvSpPr>
        <p:spPr>
          <a:xfrm>
            <a:off x="3238500" y="3429000"/>
            <a:ext cx="5715000" cy="9525"/>
          </a:xfrm>
          <a:custGeom>
            <a:avLst/>
            <a:gdLst>
              <a:gd name="csX0" fmla="*/ 0 w 5715000"/>
              <a:gd name="csY0" fmla="*/ 0 h 9525"/>
              <a:gd name="csX1" fmla="*/ 5715000 w 57150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ln w="19050" cap="flat">
            <a:solidFill>
              <a:srgbClr val="003366"/>
            </a:solidFill>
            <a:prstDash val="solid"/>
            <a:miter/>
          </a:ln>
        </p:spPr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6492A4-4818-24B5-1660-B0AA6DD9A0AD}"/>
              </a:ext>
            </a:extLst>
          </p:cNvPr>
          <p:cNvSpPr txBox="1"/>
          <p:nvPr/>
        </p:nvSpPr>
        <p:spPr>
          <a:xfrm>
            <a:off x="4671060" y="3767833"/>
            <a:ext cx="2849880" cy="443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1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汇报人：徐振宇、李享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DE5B89-2017-2586-CD84-50417D126308}"/>
              </a:ext>
            </a:extLst>
          </p:cNvPr>
          <p:cNvSpPr txBox="1"/>
          <p:nvPr/>
        </p:nvSpPr>
        <p:spPr>
          <a:xfrm>
            <a:off x="5369435" y="4379647"/>
            <a:ext cx="1453128" cy="3931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2026-03-19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DDD431-0FC2-E947-387F-6971D7F2683D}"/>
              </a:ext>
            </a:extLst>
          </p:cNvPr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02C1426-1E17-9948-B274-9E2CCDC847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512469-07E9-477E-F7CF-CE825E054125}"/>
              </a:ext>
            </a:extLst>
          </p:cNvPr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6C20CF-C97D-AF10-97A4-4B80A8257558}"/>
              </a:ext>
            </a:extLst>
          </p:cNvPr>
          <p:cNvSpPr txBox="1"/>
          <p:nvPr/>
        </p:nvSpPr>
        <p:spPr>
          <a:xfrm>
            <a:off x="289560" y="73240"/>
            <a:ext cx="3856878" cy="418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Background: ALLM 与音频情绪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6CA6C744-02BB-91BB-86F4-13E215CDDA9E}"/>
              </a:ext>
            </a:extLst>
          </p:cNvPr>
          <p:cNvSpPr/>
          <p:nvPr/>
        </p:nvSpPr>
        <p:spPr>
          <a:xfrm>
            <a:off x="571500" y="762000"/>
            <a:ext cx="11049000" cy="762000"/>
          </a:xfrm>
          <a:custGeom>
            <a:avLst/>
            <a:gdLst>
              <a:gd name="csX0" fmla="*/ 38100 w 11049000"/>
              <a:gd name="csY0" fmla="*/ 0 h 762000"/>
              <a:gd name="csX1" fmla="*/ 11010900 w 11049000"/>
              <a:gd name="csY1" fmla="*/ 0 h 762000"/>
              <a:gd name="csX2" fmla="*/ 11049000 w 11049000"/>
              <a:gd name="csY2" fmla="*/ 38100 h 762000"/>
              <a:gd name="csX3" fmla="*/ 11049000 w 11049000"/>
              <a:gd name="csY3" fmla="*/ 723900 h 762000"/>
              <a:gd name="csX4" fmla="*/ 11010900 w 11049000"/>
              <a:gd name="csY4" fmla="*/ 762000 h 762000"/>
              <a:gd name="csX5" fmla="*/ 38100 w 11049000"/>
              <a:gd name="csY5" fmla="*/ 762000 h 762000"/>
              <a:gd name="csX6" fmla="*/ 0 w 11049000"/>
              <a:gd name="csY6" fmla="*/ 723900 h 762000"/>
              <a:gd name="csX7" fmla="*/ 0 w 11049000"/>
              <a:gd name="csY7" fmla="*/ 38100 h 762000"/>
              <a:gd name="csX8" fmla="*/ 38100 w 11049000"/>
              <a:gd name="csY8" fmla="*/ 0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049000" h="76200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723900"/>
                </a:lnTo>
                <a:cubicBezTo>
                  <a:pt x="11049000" y="744942"/>
                  <a:pt x="11031942" y="762000"/>
                  <a:pt x="110109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1E0819-A8E5-28D2-0839-024BC1BA7396}"/>
              </a:ext>
            </a:extLst>
          </p:cNvPr>
          <p:cNvSpPr txBox="1"/>
          <p:nvPr/>
        </p:nvSpPr>
        <p:spPr>
          <a:xfrm>
            <a:off x="670560" y="951753"/>
            <a:ext cx="7587014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音频 ≠ 纯文字转写；同时携带语义（说了什么）和副语言（韵律、情绪、身份）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30B695-EC9E-91B0-656E-FFD0EF111BF6}"/>
              </a:ext>
            </a:extLst>
          </p:cNvPr>
          <p:cNvSpPr txBox="1"/>
          <p:nvPr/>
        </p:nvSpPr>
        <p:spPr>
          <a:xfrm>
            <a:off x="480060" y="1692490"/>
            <a:ext cx="1958994" cy="418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b="1" spc="0" baseline="0" dirty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ALLM 代表模型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CA251B-6968-9085-2833-B0C6CFB92BE7}"/>
              </a:ext>
            </a:extLst>
          </p:cNvPr>
          <p:cNvSpPr txBox="1"/>
          <p:nvPr/>
        </p:nvSpPr>
        <p:spPr>
          <a:xfrm>
            <a:off x="670560" y="2141273"/>
            <a:ext cx="659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spc="0" baseline="0" dirty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SALMONN </a:t>
            </a:r>
            <a:r>
              <a:rPr lang="zh-CN" altLang="en-US" sz="1800" spc="0" baseline="0" dirty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/ Kimi-Audio </a:t>
            </a:r>
            <a:r>
              <a:rPr lang="zh-CN" altLang="en-US" dirty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/ </a:t>
            </a:r>
            <a:r>
              <a:rPr lang="en-US" altLang="zh-CN" dirty="0">
                <a:ln/>
                <a:solidFill>
                  <a:srgbClr val="444444"/>
                </a:solidFill>
                <a:latin typeface="微软雅黑"/>
                <a:ea typeface="微软雅黑"/>
                <a:rtl val="0"/>
              </a:rPr>
              <a:t>Voxtral-Mini-3B-2507</a:t>
            </a:r>
          </a:p>
          <a:p>
            <a:pPr algn="l"/>
            <a:endParaRPr lang="zh-CN" altLang="en-US" sz="1800" spc="0" baseline="0" dirty="0">
              <a:ln/>
              <a:solidFill>
                <a:srgbClr val="444444"/>
              </a:solidFill>
              <a:latin typeface="微软雅黑"/>
              <a:ea typeface="微软雅黑"/>
              <a:sym typeface="微软雅黑"/>
              <a:rtl val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FDB6D2-A117-2817-D8D6-8AC3C1F24C7C}"/>
              </a:ext>
            </a:extLst>
          </p:cNvPr>
          <p:cNvSpPr txBox="1"/>
          <p:nvPr/>
        </p:nvSpPr>
        <p:spPr>
          <a:xfrm>
            <a:off x="480060" y="2740240"/>
            <a:ext cx="1668780" cy="418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安全研究现状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5AB059-8227-515C-E5FA-2935488DE74E}"/>
              </a:ext>
            </a:extLst>
          </p:cNvPr>
          <p:cNvSpPr/>
          <p:nvPr/>
        </p:nvSpPr>
        <p:spPr>
          <a:xfrm>
            <a:off x="762000" y="3286125"/>
            <a:ext cx="10668000" cy="49530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AD1CF4-57D2-24BB-255B-598E664D7F11}"/>
              </a:ext>
            </a:extLst>
          </p:cNvPr>
          <p:cNvSpPr txBox="1"/>
          <p:nvPr/>
        </p:nvSpPr>
        <p:spPr>
          <a:xfrm>
            <a:off x="861060" y="3353160"/>
            <a:ext cx="1001899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文本 LLM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698DE9-C788-4B0F-90FD-A76B778942D3}"/>
              </a:ext>
            </a:extLst>
          </p:cNvPr>
          <p:cNvSpPr txBox="1"/>
          <p:nvPr/>
        </p:nvSpPr>
        <p:spPr>
          <a:xfrm>
            <a:off x="2956560" y="3353160"/>
            <a:ext cx="2423487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 dirty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→ GCG [Zou et al., 2023]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7CAECB-CAB5-C3D9-6107-8B7DB996230D}"/>
              </a:ext>
            </a:extLst>
          </p:cNvPr>
          <p:cNvSpPr/>
          <p:nvPr/>
        </p:nvSpPr>
        <p:spPr>
          <a:xfrm>
            <a:off x="762000" y="3781425"/>
            <a:ext cx="10668000" cy="4953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233D71-05DD-F1C9-B109-893A6F7E9BB6}"/>
              </a:ext>
            </a:extLst>
          </p:cNvPr>
          <p:cNvSpPr txBox="1"/>
          <p:nvPr/>
        </p:nvSpPr>
        <p:spPr>
          <a:xfrm>
            <a:off x="861060" y="3848460"/>
            <a:ext cx="1188027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视觉 MLLM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FFBD3B-E244-024F-C4EE-4E0388FB3D7F}"/>
              </a:ext>
            </a:extLst>
          </p:cNvPr>
          <p:cNvSpPr txBox="1"/>
          <p:nvPr/>
        </p:nvSpPr>
        <p:spPr>
          <a:xfrm>
            <a:off x="2956560" y="3848460"/>
            <a:ext cx="2839275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 dirty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→ Mirage [Wang et al., 2024]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991899-C3C2-2595-B54B-1552DCC31BB7}"/>
              </a:ext>
            </a:extLst>
          </p:cNvPr>
          <p:cNvSpPr/>
          <p:nvPr/>
        </p:nvSpPr>
        <p:spPr>
          <a:xfrm>
            <a:off x="762000" y="4276725"/>
            <a:ext cx="10668000" cy="49530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3B8926-08AC-A41A-2C2D-31DD457ACDB3}"/>
              </a:ext>
            </a:extLst>
          </p:cNvPr>
          <p:cNvSpPr txBox="1"/>
          <p:nvPr/>
        </p:nvSpPr>
        <p:spPr>
          <a:xfrm>
            <a:off x="861060" y="4343760"/>
            <a:ext cx="1135938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音频 ALLM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779058-3653-E3BE-EDEB-159D91754621}"/>
              </a:ext>
            </a:extLst>
          </p:cNvPr>
          <p:cNvSpPr txBox="1"/>
          <p:nvPr/>
        </p:nvSpPr>
        <p:spPr>
          <a:xfrm>
            <a:off x="2956560" y="4343760"/>
            <a:ext cx="3223717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 dirty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→ SpeechGuard [Peri et al., 2024]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619A37-372E-9446-4E40-8D8D1CA49538}"/>
              </a:ext>
            </a:extLst>
          </p:cNvPr>
          <p:cNvSpPr/>
          <p:nvPr/>
        </p:nvSpPr>
        <p:spPr>
          <a:xfrm>
            <a:off x="762000" y="4772025"/>
            <a:ext cx="10668000" cy="5334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6AF24B6-1813-BAA7-0A37-AD80593187F1}"/>
              </a:ext>
            </a:extLst>
          </p:cNvPr>
          <p:cNvSpPr/>
          <p:nvPr/>
        </p:nvSpPr>
        <p:spPr>
          <a:xfrm>
            <a:off x="762000" y="4772025"/>
            <a:ext cx="10668000" cy="533400"/>
          </a:xfrm>
          <a:custGeom>
            <a:avLst/>
            <a:gdLst>
              <a:gd name="csX0" fmla="*/ 19050 w 10668000"/>
              <a:gd name="csY0" fmla="*/ 0 h 533400"/>
              <a:gd name="csX1" fmla="*/ 10648950 w 10668000"/>
              <a:gd name="csY1" fmla="*/ 0 h 533400"/>
              <a:gd name="csX2" fmla="*/ 10668000 w 10668000"/>
              <a:gd name="csY2" fmla="*/ 19050 h 533400"/>
              <a:gd name="csX3" fmla="*/ 10668000 w 10668000"/>
              <a:gd name="csY3" fmla="*/ 514350 h 533400"/>
              <a:gd name="csX4" fmla="*/ 10648950 w 10668000"/>
              <a:gd name="csY4" fmla="*/ 533400 h 533400"/>
              <a:gd name="csX5" fmla="*/ 19050 w 10668000"/>
              <a:gd name="csY5" fmla="*/ 533400 h 533400"/>
              <a:gd name="csX6" fmla="*/ 0 w 10668000"/>
              <a:gd name="csY6" fmla="*/ 514350 h 533400"/>
              <a:gd name="csX7" fmla="*/ 0 w 10668000"/>
              <a:gd name="csY7" fmla="*/ 19050 h 533400"/>
              <a:gd name="csX8" fmla="*/ 19050 w 10668000"/>
              <a:gd name="csY8" fmla="*/ 0 h 53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68000" h="533400">
                <a:moveTo>
                  <a:pt x="19050" y="0"/>
                </a:moveTo>
                <a:lnTo>
                  <a:pt x="10648950" y="0"/>
                </a:lnTo>
                <a:cubicBezTo>
                  <a:pt x="10659471" y="0"/>
                  <a:pt x="10668000" y="8529"/>
                  <a:pt x="10668000" y="19050"/>
                </a:cubicBezTo>
                <a:lnTo>
                  <a:pt x="10668000" y="514350"/>
                </a:lnTo>
                <a:cubicBezTo>
                  <a:pt x="10668000" y="524871"/>
                  <a:pt x="10659471" y="533400"/>
                  <a:pt x="10648950" y="533400"/>
                </a:cubicBezTo>
                <a:lnTo>
                  <a:pt x="19050" y="533400"/>
                </a:lnTo>
                <a:cubicBezTo>
                  <a:pt x="8529" y="533400"/>
                  <a:pt x="0" y="524871"/>
                  <a:pt x="0" y="514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noFill/>
          <a:ln w="19050" cap="flat">
            <a:solidFill>
              <a:srgbClr val="CC0000"/>
            </a:solidFill>
            <a:prstDash val="solid"/>
            <a:miter/>
          </a:ln>
        </p:spPr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67CCB2-A978-CD97-E43F-8E1F449870E2}"/>
              </a:ext>
            </a:extLst>
          </p:cNvPr>
          <p:cNvSpPr txBox="1"/>
          <p:nvPr/>
        </p:nvSpPr>
        <p:spPr>
          <a:xfrm>
            <a:off x="861060" y="4847478"/>
            <a:ext cx="1021080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情绪维度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EAD31E7-97C8-D091-A0D9-850D4060C43C}"/>
              </a:ext>
            </a:extLst>
          </p:cNvPr>
          <p:cNvSpPr txBox="1"/>
          <p:nvPr/>
        </p:nvSpPr>
        <p:spPr>
          <a:xfrm>
            <a:off x="2956560" y="4847478"/>
            <a:ext cx="1836974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b="1" spc="0" baseline="0" dirty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→ 空白 ← 本研究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E09347-5089-A4AD-BE64-D43E14DC8692}"/>
              </a:ext>
            </a:extLst>
          </p:cNvPr>
          <p:cNvSpPr/>
          <p:nvPr/>
        </p:nvSpPr>
        <p:spPr>
          <a:xfrm>
            <a:off x="762000" y="3286125"/>
            <a:ext cx="10668000" cy="2019300"/>
          </a:xfrm>
          <a:prstGeom prst="rect">
            <a:avLst/>
          </a:prstGeom>
          <a:noFill/>
          <a:ln w="9525" cap="flat">
            <a:solidFill>
              <a:srgbClr val="D0D7E0"/>
            </a:solidFill>
            <a:prstDash val="solid"/>
            <a:miter/>
          </a:ln>
        </p:spPr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541306E-A7FE-757D-9BE2-F5F50279EF4C}"/>
              </a:ext>
            </a:extLst>
          </p:cNvPr>
          <p:cNvSpPr txBox="1"/>
          <p:nvPr/>
        </p:nvSpPr>
        <p:spPr>
          <a:xfrm>
            <a:off x="11462031" y="6500838"/>
            <a:ext cx="249908" cy="242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999999"/>
                </a:solidFill>
                <a:latin typeface="微软雅黑"/>
                <a:ea typeface="微软雅黑"/>
                <a:sym typeface="微软雅黑"/>
                <a:rtl val="0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01944B8-32B9-1B06-A172-FD0B90F48F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541118-8FF3-FDA5-7C9F-F0535B11A7D8}"/>
              </a:ext>
            </a:extLst>
          </p:cNvPr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8D7B8C-527B-E78D-89AD-292416BD063C}"/>
              </a:ext>
            </a:extLst>
          </p:cNvPr>
          <p:cNvSpPr txBox="1"/>
          <p:nvPr/>
        </p:nvSpPr>
        <p:spPr>
          <a:xfrm>
            <a:off x="289560" y="73240"/>
            <a:ext cx="2911625" cy="418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Q2: 翻转了有什么后果？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497B77-B856-BA14-4198-6CB95B1735AB}"/>
              </a:ext>
            </a:extLst>
          </p:cNvPr>
          <p:cNvSpPr txBox="1"/>
          <p:nvPr/>
        </p:nvSpPr>
        <p:spPr>
          <a:xfrm>
            <a:off x="480060" y="697899"/>
            <a:ext cx="62918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Voxtral-Mini-3B, Aligned vs Conflict prompt, 15 样本, LLM（</a:t>
            </a:r>
            <a:r>
              <a:rPr lang="en-US" altLang="zh-CN" sz="1200" spc="0" baseline="0" dirty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DeepSeek V3.2</a:t>
            </a:r>
            <a:r>
              <a:rPr lang="zh-CN" altLang="en-US" sz="1200" spc="0" baseline="0" dirty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） Judge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6113AC-0105-370B-8357-188B7EA52282}"/>
              </a:ext>
            </a:extLst>
          </p:cNvPr>
          <p:cNvSpPr/>
          <p:nvPr/>
        </p:nvSpPr>
        <p:spPr>
          <a:xfrm>
            <a:off x="571500" y="1095375"/>
            <a:ext cx="11049000" cy="40005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054948-1529-7EF8-FC27-7D5BA3FBC384}"/>
              </a:ext>
            </a:extLst>
          </p:cNvPr>
          <p:cNvSpPr txBox="1"/>
          <p:nvPr/>
        </p:nvSpPr>
        <p:spPr>
          <a:xfrm>
            <a:off x="670560" y="1134942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 dirty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维度（指标）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CD9174-BFF6-B659-67A2-447F9C9C73DA}"/>
              </a:ext>
            </a:extLst>
          </p:cNvPr>
          <p:cNvSpPr txBox="1"/>
          <p:nvPr/>
        </p:nvSpPr>
        <p:spPr>
          <a:xfrm>
            <a:off x="3528060" y="1134942"/>
            <a:ext cx="85202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Aligned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A9ADC2-F5F3-7B38-703B-260AC3D7F21B}"/>
              </a:ext>
            </a:extLst>
          </p:cNvPr>
          <p:cNvSpPr txBox="1"/>
          <p:nvPr/>
        </p:nvSpPr>
        <p:spPr>
          <a:xfrm>
            <a:off x="5814060" y="1134942"/>
            <a:ext cx="852606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Conflict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7A0A17-407A-A6E2-4C7F-85764555B68C}"/>
              </a:ext>
            </a:extLst>
          </p:cNvPr>
          <p:cNvSpPr txBox="1"/>
          <p:nvPr/>
        </p:nvSpPr>
        <p:spPr>
          <a:xfrm>
            <a:off x="8481060" y="1134942"/>
            <a:ext cx="31180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E99DCF-F1A0-523C-8753-6565380602A6}"/>
              </a:ext>
            </a:extLst>
          </p:cNvPr>
          <p:cNvSpPr/>
          <p:nvPr/>
        </p:nvSpPr>
        <p:spPr>
          <a:xfrm>
            <a:off x="571500" y="1495425"/>
            <a:ext cx="11049000" cy="4000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4B8D85-339F-6B5D-FC7E-76C79F6DD79F}"/>
              </a:ext>
            </a:extLst>
          </p:cNvPr>
          <p:cNvSpPr txBox="1"/>
          <p:nvPr/>
        </p:nvSpPr>
        <p:spPr>
          <a:xfrm>
            <a:off x="670560" y="1534992"/>
            <a:ext cx="115616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Faithfulness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0DFB78-B720-622D-60E7-0AAA38B41F95}"/>
              </a:ext>
            </a:extLst>
          </p:cNvPr>
          <p:cNvSpPr txBox="1"/>
          <p:nvPr/>
        </p:nvSpPr>
        <p:spPr>
          <a:xfrm>
            <a:off x="3528060" y="1534992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3.87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95BEBF-CDC5-4309-12D6-ABDB4B7CE71F}"/>
              </a:ext>
            </a:extLst>
          </p:cNvPr>
          <p:cNvSpPr txBox="1"/>
          <p:nvPr/>
        </p:nvSpPr>
        <p:spPr>
          <a:xfrm>
            <a:off x="5814060" y="1534992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2.60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9E86F0-22E3-F272-F08A-13D0C68A356C}"/>
              </a:ext>
            </a:extLst>
          </p:cNvPr>
          <p:cNvSpPr txBox="1"/>
          <p:nvPr/>
        </p:nvSpPr>
        <p:spPr>
          <a:xfrm>
            <a:off x="8481060" y="1534992"/>
            <a:ext cx="679565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+1.27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638D91-4ADC-B5F1-6F86-4BE9F0B674A3}"/>
              </a:ext>
            </a:extLst>
          </p:cNvPr>
          <p:cNvSpPr/>
          <p:nvPr/>
        </p:nvSpPr>
        <p:spPr>
          <a:xfrm>
            <a:off x="571500" y="1895475"/>
            <a:ext cx="11049000" cy="40005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1B4E79-25CA-55B2-D340-F0C19E9BE78D}"/>
              </a:ext>
            </a:extLst>
          </p:cNvPr>
          <p:cNvSpPr txBox="1"/>
          <p:nvPr/>
        </p:nvSpPr>
        <p:spPr>
          <a:xfrm>
            <a:off x="670560" y="1935042"/>
            <a:ext cx="90225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Empathy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D006D8-0E56-33C7-CCCC-89C0240CC0B5}"/>
              </a:ext>
            </a:extLst>
          </p:cNvPr>
          <p:cNvSpPr txBox="1"/>
          <p:nvPr/>
        </p:nvSpPr>
        <p:spPr>
          <a:xfrm>
            <a:off x="3528060" y="1935042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3.93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A4BCDA-B808-647A-946E-EF48675EFA7F}"/>
              </a:ext>
            </a:extLst>
          </p:cNvPr>
          <p:cNvSpPr txBox="1"/>
          <p:nvPr/>
        </p:nvSpPr>
        <p:spPr>
          <a:xfrm>
            <a:off x="5814060" y="1935042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2.80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14557C-F85A-CD1F-D810-1236180773E2}"/>
              </a:ext>
            </a:extLst>
          </p:cNvPr>
          <p:cNvSpPr txBox="1"/>
          <p:nvPr/>
        </p:nvSpPr>
        <p:spPr>
          <a:xfrm>
            <a:off x="8481060" y="1935042"/>
            <a:ext cx="679565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+1.13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FB4763-9818-AD8B-2656-35C4A2E20DC5}"/>
              </a:ext>
            </a:extLst>
          </p:cNvPr>
          <p:cNvSpPr/>
          <p:nvPr/>
        </p:nvSpPr>
        <p:spPr>
          <a:xfrm>
            <a:off x="571500" y="2295525"/>
            <a:ext cx="11049000" cy="4000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E04663-3869-0A2E-3CB6-EB1DDD845E38}"/>
              </a:ext>
            </a:extLst>
          </p:cNvPr>
          <p:cNvSpPr txBox="1"/>
          <p:nvPr/>
        </p:nvSpPr>
        <p:spPr>
          <a:xfrm>
            <a:off x="670560" y="2335092"/>
            <a:ext cx="100865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Relevance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F4237E-0ADE-3D5B-0B92-B844AF8F4548}"/>
              </a:ext>
            </a:extLst>
          </p:cNvPr>
          <p:cNvSpPr txBox="1"/>
          <p:nvPr/>
        </p:nvSpPr>
        <p:spPr>
          <a:xfrm>
            <a:off x="3528060" y="2335092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4.47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6E8DFA3-C67D-8EDB-DC4F-A113E15FDB9D}"/>
              </a:ext>
            </a:extLst>
          </p:cNvPr>
          <p:cNvSpPr txBox="1"/>
          <p:nvPr/>
        </p:nvSpPr>
        <p:spPr>
          <a:xfrm>
            <a:off x="5814060" y="2335092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3.47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6E8F89-DBFB-884F-FC01-52C2CE662598}"/>
              </a:ext>
            </a:extLst>
          </p:cNvPr>
          <p:cNvSpPr txBox="1"/>
          <p:nvPr/>
        </p:nvSpPr>
        <p:spPr>
          <a:xfrm>
            <a:off x="8481060" y="2335092"/>
            <a:ext cx="679565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+1.00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E2C836A-1EF3-8121-1B5E-DC555C1B1227}"/>
              </a:ext>
            </a:extLst>
          </p:cNvPr>
          <p:cNvSpPr/>
          <p:nvPr/>
        </p:nvSpPr>
        <p:spPr>
          <a:xfrm>
            <a:off x="571500" y="1095375"/>
            <a:ext cx="11049000" cy="1600200"/>
          </a:xfrm>
          <a:prstGeom prst="rect">
            <a:avLst/>
          </a:prstGeom>
          <a:noFill/>
          <a:ln w="9525" cap="flat">
            <a:solidFill>
              <a:srgbClr val="D0D7E0"/>
            </a:solidFill>
            <a:prstDash val="solid"/>
            <a:miter/>
          </a:ln>
        </p:spPr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D28A5F3-6A64-9D08-FD17-3DDD835333AF}"/>
              </a:ext>
            </a:extLst>
          </p:cNvPr>
          <p:cNvSpPr txBox="1"/>
          <p:nvPr/>
        </p:nvSpPr>
        <p:spPr>
          <a:xfrm>
            <a:off x="480060" y="2950897"/>
            <a:ext cx="1097280" cy="3931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b="1" spc="0" baseline="0" dirty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关键发现</a:t>
            </a: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985F6607-0379-9834-6A0D-59E39557AACC}"/>
              </a:ext>
            </a:extLst>
          </p:cNvPr>
          <p:cNvSpPr/>
          <p:nvPr/>
        </p:nvSpPr>
        <p:spPr>
          <a:xfrm>
            <a:off x="571500" y="3476625"/>
            <a:ext cx="3429000" cy="1143000"/>
          </a:xfrm>
          <a:custGeom>
            <a:avLst/>
            <a:gdLst>
              <a:gd name="csX0" fmla="*/ 38100 w 3429000"/>
              <a:gd name="csY0" fmla="*/ 0 h 1143000"/>
              <a:gd name="csX1" fmla="*/ 3390900 w 3429000"/>
              <a:gd name="csY1" fmla="*/ 0 h 1143000"/>
              <a:gd name="csX2" fmla="*/ 3429000 w 3429000"/>
              <a:gd name="csY2" fmla="*/ 38100 h 1143000"/>
              <a:gd name="csX3" fmla="*/ 3429000 w 3429000"/>
              <a:gd name="csY3" fmla="*/ 1104900 h 1143000"/>
              <a:gd name="csX4" fmla="*/ 3390900 w 3429000"/>
              <a:gd name="csY4" fmla="*/ 1143000 h 1143000"/>
              <a:gd name="csX5" fmla="*/ 38100 w 3429000"/>
              <a:gd name="csY5" fmla="*/ 1143000 h 1143000"/>
              <a:gd name="csX6" fmla="*/ 0 w 3429000"/>
              <a:gd name="csY6" fmla="*/ 1104900 h 1143000"/>
              <a:gd name="csX7" fmla="*/ 0 w 3429000"/>
              <a:gd name="csY7" fmla="*/ 38100 h 1143000"/>
              <a:gd name="csX8" fmla="*/ 38100 w 3429000"/>
              <a:gd name="csY8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29000" h="1143000">
                <a:moveTo>
                  <a:pt x="38100" y="0"/>
                </a:moveTo>
                <a:lnTo>
                  <a:pt x="3390900" y="0"/>
                </a:lnTo>
                <a:cubicBezTo>
                  <a:pt x="3411942" y="0"/>
                  <a:pt x="3429000" y="17058"/>
                  <a:pt x="3429000" y="38100"/>
                </a:cubicBezTo>
                <a:lnTo>
                  <a:pt x="3429000" y="1104900"/>
                </a:lnTo>
                <a:cubicBezTo>
                  <a:pt x="3429000" y="1125942"/>
                  <a:pt x="3411942" y="1143000"/>
                  <a:pt x="3390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77A5933-2EC6-ACC8-F576-642E3F128B7A}"/>
              </a:ext>
            </a:extLst>
          </p:cNvPr>
          <p:cNvSpPr txBox="1"/>
          <p:nvPr/>
        </p:nvSpPr>
        <p:spPr>
          <a:xfrm>
            <a:off x="1521145" y="3637803"/>
            <a:ext cx="1529709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b="1" spc="0" baseline="0" dirty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happy 最脆弱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BF00705-D612-56DF-3085-50FA612B1102}"/>
              </a:ext>
            </a:extLst>
          </p:cNvPr>
          <p:cNvSpPr txBox="1"/>
          <p:nvPr/>
        </p:nvSpPr>
        <p:spPr>
          <a:xfrm>
            <a:off x="1410375" y="4038960"/>
            <a:ext cx="1751249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Empathy Δ +3.00</a:t>
            </a: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3F6116B7-4260-D161-4934-176366F05F34}"/>
              </a:ext>
            </a:extLst>
          </p:cNvPr>
          <p:cNvSpPr/>
          <p:nvPr/>
        </p:nvSpPr>
        <p:spPr>
          <a:xfrm>
            <a:off x="4381500" y="3476625"/>
            <a:ext cx="3429000" cy="1143000"/>
          </a:xfrm>
          <a:custGeom>
            <a:avLst/>
            <a:gdLst>
              <a:gd name="csX0" fmla="*/ 38100 w 3429000"/>
              <a:gd name="csY0" fmla="*/ 0 h 1143000"/>
              <a:gd name="csX1" fmla="*/ 3390900 w 3429000"/>
              <a:gd name="csY1" fmla="*/ 0 h 1143000"/>
              <a:gd name="csX2" fmla="*/ 3429000 w 3429000"/>
              <a:gd name="csY2" fmla="*/ 38100 h 1143000"/>
              <a:gd name="csX3" fmla="*/ 3429000 w 3429000"/>
              <a:gd name="csY3" fmla="*/ 1104900 h 1143000"/>
              <a:gd name="csX4" fmla="*/ 3390900 w 3429000"/>
              <a:gd name="csY4" fmla="*/ 1143000 h 1143000"/>
              <a:gd name="csX5" fmla="*/ 38100 w 3429000"/>
              <a:gd name="csY5" fmla="*/ 1143000 h 1143000"/>
              <a:gd name="csX6" fmla="*/ 0 w 3429000"/>
              <a:gd name="csY6" fmla="*/ 1104900 h 1143000"/>
              <a:gd name="csX7" fmla="*/ 0 w 3429000"/>
              <a:gd name="csY7" fmla="*/ 38100 h 1143000"/>
              <a:gd name="csX8" fmla="*/ 38100 w 3429000"/>
              <a:gd name="csY8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29000" h="1143000">
                <a:moveTo>
                  <a:pt x="38100" y="0"/>
                </a:moveTo>
                <a:lnTo>
                  <a:pt x="3390900" y="0"/>
                </a:lnTo>
                <a:cubicBezTo>
                  <a:pt x="3411942" y="0"/>
                  <a:pt x="3429000" y="17058"/>
                  <a:pt x="3429000" y="38100"/>
                </a:cubicBezTo>
                <a:lnTo>
                  <a:pt x="3429000" y="1104900"/>
                </a:lnTo>
                <a:cubicBezTo>
                  <a:pt x="3429000" y="1125942"/>
                  <a:pt x="3411942" y="1143000"/>
                  <a:pt x="3390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B92ED81-FFA2-C597-6C91-BF90C141D170}"/>
              </a:ext>
            </a:extLst>
          </p:cNvPr>
          <p:cNvSpPr txBox="1"/>
          <p:nvPr/>
        </p:nvSpPr>
        <p:spPr>
          <a:xfrm>
            <a:off x="5477154" y="3637803"/>
            <a:ext cx="1237690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b="1" spc="0" baseline="0">
                <a:ln/>
                <a:solidFill>
                  <a:srgbClr val="28A745"/>
                </a:solidFill>
                <a:latin typeface="微软雅黑"/>
                <a:ea typeface="微软雅黑"/>
                <a:sym typeface="微软雅黑"/>
                <a:rtl val="0"/>
              </a:rPr>
              <a:t>sad 最鲁棒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4F5B72-3AAE-F610-3BA8-7E1555DFA0F1}"/>
              </a:ext>
            </a:extLst>
          </p:cNvPr>
          <p:cNvSpPr txBox="1"/>
          <p:nvPr/>
        </p:nvSpPr>
        <p:spPr>
          <a:xfrm>
            <a:off x="5754668" y="4038960"/>
            <a:ext cx="682663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Δ = 0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1DDDE6E9-A23A-49C3-DCB3-5B54EC973886}"/>
              </a:ext>
            </a:extLst>
          </p:cNvPr>
          <p:cNvSpPr/>
          <p:nvPr/>
        </p:nvSpPr>
        <p:spPr>
          <a:xfrm>
            <a:off x="8191500" y="3476625"/>
            <a:ext cx="3429000" cy="1143000"/>
          </a:xfrm>
          <a:custGeom>
            <a:avLst/>
            <a:gdLst>
              <a:gd name="csX0" fmla="*/ 38100 w 3429000"/>
              <a:gd name="csY0" fmla="*/ 0 h 1143000"/>
              <a:gd name="csX1" fmla="*/ 3390900 w 3429000"/>
              <a:gd name="csY1" fmla="*/ 0 h 1143000"/>
              <a:gd name="csX2" fmla="*/ 3429000 w 3429000"/>
              <a:gd name="csY2" fmla="*/ 38100 h 1143000"/>
              <a:gd name="csX3" fmla="*/ 3429000 w 3429000"/>
              <a:gd name="csY3" fmla="*/ 1104900 h 1143000"/>
              <a:gd name="csX4" fmla="*/ 3390900 w 3429000"/>
              <a:gd name="csY4" fmla="*/ 1143000 h 1143000"/>
              <a:gd name="csX5" fmla="*/ 38100 w 3429000"/>
              <a:gd name="csY5" fmla="*/ 1143000 h 1143000"/>
              <a:gd name="csX6" fmla="*/ 0 w 3429000"/>
              <a:gd name="csY6" fmla="*/ 1104900 h 1143000"/>
              <a:gd name="csX7" fmla="*/ 0 w 3429000"/>
              <a:gd name="csY7" fmla="*/ 38100 h 1143000"/>
              <a:gd name="csX8" fmla="*/ 38100 w 3429000"/>
              <a:gd name="csY8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29000" h="1143000">
                <a:moveTo>
                  <a:pt x="38100" y="0"/>
                </a:moveTo>
                <a:lnTo>
                  <a:pt x="3390900" y="0"/>
                </a:lnTo>
                <a:cubicBezTo>
                  <a:pt x="3411942" y="0"/>
                  <a:pt x="3429000" y="17058"/>
                  <a:pt x="3429000" y="38100"/>
                </a:cubicBezTo>
                <a:lnTo>
                  <a:pt x="3429000" y="1104900"/>
                </a:lnTo>
                <a:cubicBezTo>
                  <a:pt x="3429000" y="1125942"/>
                  <a:pt x="3411942" y="1143000"/>
                  <a:pt x="3390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E7E8735-1906-032B-29E3-08658A540945}"/>
              </a:ext>
            </a:extLst>
          </p:cNvPr>
          <p:cNvSpPr txBox="1"/>
          <p:nvPr/>
        </p:nvSpPr>
        <p:spPr>
          <a:xfrm>
            <a:off x="8988177" y="3637803"/>
            <a:ext cx="1835644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neutral 幻觉温床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2BB9824-E022-AA20-1E1A-5AD307EAC2FF}"/>
              </a:ext>
            </a:extLst>
          </p:cNvPr>
          <p:cNvSpPr txBox="1"/>
          <p:nvPr/>
        </p:nvSpPr>
        <p:spPr>
          <a:xfrm>
            <a:off x="8958612" y="4038960"/>
            <a:ext cx="1894775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Faithfulness 1.33/5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3B1FFAF-FF5B-DD61-BF9F-834B6CDB1CA6}"/>
              </a:ext>
            </a:extLst>
          </p:cNvPr>
          <p:cNvSpPr txBox="1"/>
          <p:nvPr/>
        </p:nvSpPr>
        <p:spPr>
          <a:xfrm>
            <a:off x="11462031" y="6500838"/>
            <a:ext cx="249908" cy="242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999999"/>
                </a:solidFill>
                <a:latin typeface="微软雅黑"/>
                <a:ea typeface="微软雅黑"/>
                <a:sym typeface="微软雅黑"/>
                <a:rtl val="0"/>
              </a:rPr>
              <a:t>6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27F1571-8CF6-D55B-1A58-EC55DE7D9BB4}"/>
              </a:ext>
            </a:extLst>
          </p:cNvPr>
          <p:cNvSpPr txBox="1"/>
          <p:nvPr/>
        </p:nvSpPr>
        <p:spPr>
          <a:xfrm>
            <a:off x="480060" y="47078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核心结论</a:t>
            </a:r>
            <a:endParaRPr lang="zh-CN" altLang="en-US" sz="1800" b="1" spc="0" baseline="0" dirty="0">
              <a:ln/>
              <a:solidFill>
                <a:srgbClr val="003366"/>
              </a:solidFill>
              <a:latin typeface="微软雅黑"/>
              <a:ea typeface="微软雅黑"/>
              <a:sym typeface="微软雅黑"/>
              <a:rtl val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D07667-6CED-A849-7D07-145A19BD0CDF}"/>
              </a:ext>
            </a:extLst>
          </p:cNvPr>
          <p:cNvSpPr txBox="1"/>
          <p:nvPr/>
        </p:nvSpPr>
        <p:spPr>
          <a:xfrm>
            <a:off x="317326" y="5473312"/>
            <a:ext cx="1187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情绪误感知不只是标签翻转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它系统性地降低了回复的忠实度、共情恰当性与相关性，三维度平均下降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8613F62-55FB-14FE-8A5D-248004FF3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583178-2491-F53A-4A12-F9FDAF23AF65}"/>
              </a:ext>
            </a:extLst>
          </p:cNvPr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FC528F-41FB-5AF1-C5AD-793CB56A379C}"/>
              </a:ext>
            </a:extLst>
          </p:cNvPr>
          <p:cNvSpPr txBox="1"/>
          <p:nvPr/>
        </p:nvSpPr>
        <p:spPr>
          <a:xfrm>
            <a:off x="289560" y="73240"/>
            <a:ext cx="4392930" cy="418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攻击框架（方法论迭代中，非最终版）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55A895E6-B766-047A-50A9-E419DE2E71AF}"/>
              </a:ext>
            </a:extLst>
          </p:cNvPr>
          <p:cNvSpPr/>
          <p:nvPr/>
        </p:nvSpPr>
        <p:spPr>
          <a:xfrm>
            <a:off x="571500" y="762000"/>
            <a:ext cx="11049000" cy="523875"/>
          </a:xfrm>
          <a:custGeom>
            <a:avLst/>
            <a:gdLst>
              <a:gd name="csX0" fmla="*/ 38100 w 11049000"/>
              <a:gd name="csY0" fmla="*/ 0 h 523875"/>
              <a:gd name="csX1" fmla="*/ 11010900 w 11049000"/>
              <a:gd name="csY1" fmla="*/ 0 h 523875"/>
              <a:gd name="csX2" fmla="*/ 11049000 w 11049000"/>
              <a:gd name="csY2" fmla="*/ 38100 h 523875"/>
              <a:gd name="csX3" fmla="*/ 11049000 w 11049000"/>
              <a:gd name="csY3" fmla="*/ 485775 h 523875"/>
              <a:gd name="csX4" fmla="*/ 11010900 w 11049000"/>
              <a:gd name="csY4" fmla="*/ 523875 h 523875"/>
              <a:gd name="csX5" fmla="*/ 38100 w 11049000"/>
              <a:gd name="csY5" fmla="*/ 523875 h 523875"/>
              <a:gd name="csX6" fmla="*/ 0 w 11049000"/>
              <a:gd name="csY6" fmla="*/ 485775 h 523875"/>
              <a:gd name="csX7" fmla="*/ 0 w 11049000"/>
              <a:gd name="csY7" fmla="*/ 38100 h 523875"/>
              <a:gd name="csX8" fmla="*/ 38100 w 11049000"/>
              <a:gd name="csY8" fmla="*/ 0 h 523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049000" h="523875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85775"/>
                </a:lnTo>
                <a:cubicBezTo>
                  <a:pt x="11049000" y="506817"/>
                  <a:pt x="11031942" y="523875"/>
                  <a:pt x="11010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B98328-4994-4136-F04A-9C03BCF8150C}"/>
              </a:ext>
            </a:extLst>
          </p:cNvPr>
          <p:cNvSpPr txBox="1"/>
          <p:nvPr/>
        </p:nvSpPr>
        <p:spPr>
          <a:xfrm>
            <a:off x="2951453" y="856885"/>
            <a:ext cx="6289093" cy="33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b="1" spc="0" baseline="0">
                <a:ln/>
                <a:solidFill>
                  <a:srgbClr val="003366"/>
                </a:solidFill>
                <a:latin typeface="Consolas"/>
                <a:sym typeface="Consolas"/>
                <a:rtl val="0"/>
              </a:rPr>
              <a:t>L(x') = λ_emo · L_emo + λ_asr · L_asr + λ_per · L_per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8979AC-BF1A-D29E-87D9-EE02536E870B}"/>
              </a:ext>
            </a:extLst>
          </p:cNvPr>
          <p:cNvSpPr/>
          <p:nvPr/>
        </p:nvSpPr>
        <p:spPr>
          <a:xfrm>
            <a:off x="571500" y="1428750"/>
            <a:ext cx="5715000" cy="36195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BE328C-9470-A8E2-0190-A8B93364328C}"/>
              </a:ext>
            </a:extLst>
          </p:cNvPr>
          <p:cNvSpPr txBox="1"/>
          <p:nvPr/>
        </p:nvSpPr>
        <p:spPr>
          <a:xfrm>
            <a:off x="670560" y="1459346"/>
            <a:ext cx="668655" cy="305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损失项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FABEB1-A130-2C7E-1265-D1521A54310C}"/>
              </a:ext>
            </a:extLst>
          </p:cNvPr>
          <p:cNvSpPr txBox="1"/>
          <p:nvPr/>
        </p:nvSpPr>
        <p:spPr>
          <a:xfrm>
            <a:off x="2099310" y="1459346"/>
            <a:ext cx="506730" cy="305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作用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FB28EA-FD86-0EDF-A7FF-E2D6A675A724}"/>
              </a:ext>
            </a:extLst>
          </p:cNvPr>
          <p:cNvSpPr txBox="1"/>
          <p:nvPr/>
        </p:nvSpPr>
        <p:spPr>
          <a:xfrm>
            <a:off x="3432810" y="1459346"/>
            <a:ext cx="506730" cy="305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机制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B8870F-6642-9BCD-3417-E445FBDA1B2C}"/>
              </a:ext>
            </a:extLst>
          </p:cNvPr>
          <p:cNvSpPr/>
          <p:nvPr/>
        </p:nvSpPr>
        <p:spPr>
          <a:xfrm>
            <a:off x="571500" y="1790700"/>
            <a:ext cx="5715000" cy="3619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2B2B1D-1B05-F6BB-AF64-65F6759A8E2F}"/>
              </a:ext>
            </a:extLst>
          </p:cNvPr>
          <p:cNvSpPr txBox="1"/>
          <p:nvPr/>
        </p:nvSpPr>
        <p:spPr>
          <a:xfrm>
            <a:off x="670560" y="1852433"/>
            <a:ext cx="601831" cy="26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Consolas"/>
                <a:sym typeface="Consolas"/>
                <a:rtl val="0"/>
              </a:rPr>
              <a:t>L_emo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BBFC26-1236-5C02-D515-C72CDE35237E}"/>
              </a:ext>
            </a:extLst>
          </p:cNvPr>
          <p:cNvSpPr txBox="1"/>
          <p:nvPr/>
        </p:nvSpPr>
        <p:spPr>
          <a:xfrm>
            <a:off x="2099310" y="1831374"/>
            <a:ext cx="792480" cy="292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情绪翻转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5D887E-039E-5B2E-0220-CBD32C5B7718}"/>
              </a:ext>
            </a:extLst>
          </p:cNvPr>
          <p:cNvSpPr txBox="1"/>
          <p:nvPr/>
        </p:nvSpPr>
        <p:spPr>
          <a:xfrm>
            <a:off x="3432810" y="1831374"/>
            <a:ext cx="2616815" cy="292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Teacher-forcing CE on 情绪 token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7B7B9A-C507-D5D5-20CA-AE47D4F8509F}"/>
              </a:ext>
            </a:extLst>
          </p:cNvPr>
          <p:cNvSpPr/>
          <p:nvPr/>
        </p:nvSpPr>
        <p:spPr>
          <a:xfrm>
            <a:off x="571500" y="2152650"/>
            <a:ext cx="5715000" cy="36195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3A65A6-88D8-5642-B431-F493EB47F8A7}"/>
              </a:ext>
            </a:extLst>
          </p:cNvPr>
          <p:cNvSpPr txBox="1"/>
          <p:nvPr/>
        </p:nvSpPr>
        <p:spPr>
          <a:xfrm>
            <a:off x="670560" y="2214383"/>
            <a:ext cx="601831" cy="26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Consolas"/>
                <a:sym typeface="Consolas"/>
                <a:rtl val="0"/>
              </a:rPr>
              <a:t>L_asr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4E2904B-2697-BDB8-3E42-FF95303E5870}"/>
              </a:ext>
            </a:extLst>
          </p:cNvPr>
          <p:cNvSpPr txBox="1"/>
          <p:nvPr/>
        </p:nvSpPr>
        <p:spPr>
          <a:xfrm>
            <a:off x="2099310" y="2193324"/>
            <a:ext cx="792480" cy="292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语义保持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35BE0B-99F6-14D5-F138-898E83984236}"/>
              </a:ext>
            </a:extLst>
          </p:cNvPr>
          <p:cNvSpPr txBox="1"/>
          <p:nvPr/>
        </p:nvSpPr>
        <p:spPr>
          <a:xfrm>
            <a:off x="3432810" y="2193324"/>
            <a:ext cx="2037501" cy="292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转写 Prompt 下自一致约束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D8A9AA-F549-098B-FA29-D2F6E5371AAF}"/>
              </a:ext>
            </a:extLst>
          </p:cNvPr>
          <p:cNvSpPr/>
          <p:nvPr/>
        </p:nvSpPr>
        <p:spPr>
          <a:xfrm>
            <a:off x="571500" y="2514600"/>
            <a:ext cx="5715000" cy="3619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68A287-AEA6-B10C-B640-15B85254DF98}"/>
              </a:ext>
            </a:extLst>
          </p:cNvPr>
          <p:cNvSpPr txBox="1"/>
          <p:nvPr/>
        </p:nvSpPr>
        <p:spPr>
          <a:xfrm>
            <a:off x="670560" y="2576333"/>
            <a:ext cx="601831" cy="26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Consolas"/>
                <a:sym typeface="Consolas"/>
                <a:rtl val="0"/>
              </a:rPr>
              <a:t>L_per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781C4A-0E1E-5024-E22D-7965D5534057}"/>
              </a:ext>
            </a:extLst>
          </p:cNvPr>
          <p:cNvSpPr txBox="1"/>
          <p:nvPr/>
        </p:nvSpPr>
        <p:spPr>
          <a:xfrm>
            <a:off x="2099310" y="2555274"/>
            <a:ext cx="792480" cy="292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感知质量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0110BD-0E40-FDD9-62C6-8757FA1C6AAF}"/>
              </a:ext>
            </a:extLst>
          </p:cNvPr>
          <p:cNvSpPr txBox="1"/>
          <p:nvPr/>
        </p:nvSpPr>
        <p:spPr>
          <a:xfrm>
            <a:off x="3432810" y="2555274"/>
            <a:ext cx="1683513" cy="292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多分辨率 STFT 幅度差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73451C-AAB5-0781-393D-B89C2B5AA437}"/>
              </a:ext>
            </a:extLst>
          </p:cNvPr>
          <p:cNvSpPr/>
          <p:nvPr/>
        </p:nvSpPr>
        <p:spPr>
          <a:xfrm>
            <a:off x="571500" y="1428750"/>
            <a:ext cx="5715000" cy="1447800"/>
          </a:xfrm>
          <a:prstGeom prst="rect">
            <a:avLst/>
          </a:prstGeom>
          <a:noFill/>
          <a:ln w="9525" cap="flat">
            <a:solidFill>
              <a:srgbClr val="D0D7E0"/>
            </a:solidFill>
            <a:prstDash val="solid"/>
            <a:miter/>
          </a:ln>
        </p:spPr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AEBF3B-0985-6AC5-84EB-D56504BB89F1}"/>
              </a:ext>
            </a:extLst>
          </p:cNvPr>
          <p:cNvSpPr txBox="1"/>
          <p:nvPr/>
        </p:nvSpPr>
        <p:spPr>
          <a:xfrm>
            <a:off x="6576060" y="1429110"/>
            <a:ext cx="944880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关键设计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F66B2C-783A-510A-2D4C-86917B7D51BF}"/>
              </a:ext>
            </a:extLst>
          </p:cNvPr>
          <p:cNvSpPr txBox="1"/>
          <p:nvPr/>
        </p:nvSpPr>
        <p:spPr>
          <a:xfrm>
            <a:off x="6766560" y="1811217"/>
            <a:ext cx="314642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两阶段调度：Stage A(20步)情绪优先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15EF8A8-07B6-A324-DC85-F2AED928DA70}"/>
              </a:ext>
            </a:extLst>
          </p:cNvPr>
          <p:cNvSpPr txBox="1"/>
          <p:nvPr/>
        </p:nvSpPr>
        <p:spPr>
          <a:xfrm>
            <a:off x="6957060" y="2096967"/>
            <a:ext cx="267083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→ Stage B(40步)兼顾语义+可闻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E73A57E-365F-A46B-4000-B4805854AF22}"/>
              </a:ext>
            </a:extLst>
          </p:cNvPr>
          <p:cNvSpPr txBox="1"/>
          <p:nvPr/>
        </p:nvSpPr>
        <p:spPr>
          <a:xfrm>
            <a:off x="6766560" y="2420817"/>
            <a:ext cx="3604429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多 Prompt 集成：3 个情绪 Prompt 求平均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8E97305-81D9-D2D1-9368-452F5149294F}"/>
              </a:ext>
            </a:extLst>
          </p:cNvPr>
          <p:cNvSpPr txBox="1"/>
          <p:nvPr/>
        </p:nvSpPr>
        <p:spPr>
          <a:xfrm>
            <a:off x="6766560" y="2744667"/>
            <a:ext cx="277581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EoT 增强：随机时移 + 增益扰动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54DFD32-6665-8A4A-0199-5D1C1A02A006}"/>
              </a:ext>
            </a:extLst>
          </p:cNvPr>
          <p:cNvSpPr txBox="1"/>
          <p:nvPr/>
        </p:nvSpPr>
        <p:spPr>
          <a:xfrm>
            <a:off x="6766560" y="3068517"/>
            <a:ext cx="173455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约束：L∞ ≤ 0.008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47316FD-66A0-EC03-3ADE-C0894FDA9EEC}"/>
              </a:ext>
            </a:extLst>
          </p:cNvPr>
          <p:cNvSpPr txBox="1"/>
          <p:nvPr/>
        </p:nvSpPr>
        <p:spPr>
          <a:xfrm>
            <a:off x="480060" y="3409324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ln/>
                <a:solidFill>
                  <a:srgbClr val="CC0000"/>
                </a:solidFill>
                <a:latin typeface="Segoe UI Symbol"/>
                <a:sym typeface="Segoe UI Symbol"/>
                <a:rtl val="0"/>
              </a:rPr>
              <a:t>⚠</a:t>
            </a:r>
            <a:r>
              <a:rPr lang="zh-CN" altLang="en-US" sz="1200" spc="0" baseline="0" dirty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 v1 方法论。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D41E2D9-5973-79AD-50F5-E81BFBA816CD}"/>
              </a:ext>
            </a:extLst>
          </p:cNvPr>
          <p:cNvSpPr txBox="1"/>
          <p:nvPr/>
        </p:nvSpPr>
        <p:spPr>
          <a:xfrm>
            <a:off x="11462031" y="6500838"/>
            <a:ext cx="249908" cy="242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999999"/>
                </a:solidFill>
                <a:latin typeface="微软雅黑"/>
                <a:ea typeface="微软雅黑"/>
                <a:sym typeface="微软雅黑"/>
                <a:rtl val="0"/>
              </a:rPr>
              <a:t>9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6BA9C450-31D5-ED49-764C-F9BDAA85B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77" y="3649542"/>
            <a:ext cx="9195045" cy="2853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9D8EB6A-9158-ADF7-E811-815A4E63F6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8DAB5E-696A-084C-30DD-005E384FDF4C}"/>
              </a:ext>
            </a:extLst>
          </p:cNvPr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9F2720-0B8F-A4B1-E231-47EDB4A0F6A2}"/>
              </a:ext>
            </a:extLst>
          </p:cNvPr>
          <p:cNvSpPr txBox="1"/>
          <p:nvPr/>
        </p:nvSpPr>
        <p:spPr>
          <a:xfrm>
            <a:off x="289560" y="73240"/>
            <a:ext cx="2659380" cy="418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白盒实验：攻击成功率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56F1C1-4207-CFCF-CA70-415A8664BB02}"/>
              </a:ext>
            </a:extLst>
          </p:cNvPr>
          <p:cNvSpPr/>
          <p:nvPr/>
        </p:nvSpPr>
        <p:spPr>
          <a:xfrm>
            <a:off x="0" y="571500"/>
            <a:ext cx="12192000" cy="4762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D4DF7B-C8B3-4502-FAFD-B6466838563D}"/>
              </a:ext>
            </a:extLst>
          </p:cNvPr>
          <p:cNvSpPr txBox="1"/>
          <p:nvPr/>
        </p:nvSpPr>
        <p:spPr>
          <a:xfrm>
            <a:off x="480060" y="629010"/>
            <a:ext cx="6648066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结论先行：两个模型上情绪翻转均高度有效（78–94%），语义保持率差异大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A89AE4-83A7-6854-7305-0370B71117E1}"/>
              </a:ext>
            </a:extLst>
          </p:cNvPr>
          <p:cNvSpPr/>
          <p:nvPr/>
        </p:nvSpPr>
        <p:spPr>
          <a:xfrm>
            <a:off x="571500" y="1519262"/>
            <a:ext cx="11049000" cy="40005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0864EA-1210-969F-5A78-79A6A5B32DA8}"/>
              </a:ext>
            </a:extLst>
          </p:cNvPr>
          <p:cNvSpPr txBox="1"/>
          <p:nvPr/>
        </p:nvSpPr>
        <p:spPr>
          <a:xfrm>
            <a:off x="670560" y="1558829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模型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278F23-6BB3-9FA5-3AAA-BBEB028FC92D}"/>
              </a:ext>
            </a:extLst>
          </p:cNvPr>
          <p:cNvSpPr txBox="1"/>
          <p:nvPr/>
        </p:nvSpPr>
        <p:spPr>
          <a:xfrm>
            <a:off x="2385060" y="1558829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F7B09E-10ED-6465-6C5D-25174099F9A5}"/>
              </a:ext>
            </a:extLst>
          </p:cNvPr>
          <p:cNvSpPr txBox="1"/>
          <p:nvPr/>
        </p:nvSpPr>
        <p:spPr>
          <a:xfrm>
            <a:off x="4480560" y="1558829"/>
            <a:ext cx="69723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样本量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72ED1A-ECBE-E491-6A00-C148BD1DE607}"/>
              </a:ext>
            </a:extLst>
          </p:cNvPr>
          <p:cNvSpPr txBox="1"/>
          <p:nvPr/>
        </p:nvSpPr>
        <p:spPr>
          <a:xfrm>
            <a:off x="6195060" y="1558829"/>
            <a:ext cx="1563353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ASR（多数投票）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E9DE97-FBE5-7CEF-6499-0B12FBC7EE5F}"/>
              </a:ext>
            </a:extLst>
          </p:cNvPr>
          <p:cNvSpPr txBox="1"/>
          <p:nvPr/>
        </p:nvSpPr>
        <p:spPr>
          <a:xfrm>
            <a:off x="8862060" y="1558829"/>
            <a:ext cx="1450923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单 Prompt 最高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40F0EC-8E59-C21D-A41C-CCF9F2CD40A0}"/>
              </a:ext>
            </a:extLst>
          </p:cNvPr>
          <p:cNvSpPr/>
          <p:nvPr/>
        </p:nvSpPr>
        <p:spPr>
          <a:xfrm>
            <a:off x="571500" y="1919312"/>
            <a:ext cx="11049000" cy="4381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B3121A-F84A-7464-718B-9A181D0CA6C8}"/>
              </a:ext>
            </a:extLst>
          </p:cNvPr>
          <p:cNvSpPr txBox="1"/>
          <p:nvPr/>
        </p:nvSpPr>
        <p:spPr>
          <a:xfrm>
            <a:off x="670560" y="1977929"/>
            <a:ext cx="933476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OpenS2S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FBBB8E-C12A-9496-ED91-C64586E6A57B}"/>
              </a:ext>
            </a:extLst>
          </p:cNvPr>
          <p:cNvSpPr txBox="1"/>
          <p:nvPr/>
        </p:nvSpPr>
        <p:spPr>
          <a:xfrm>
            <a:off x="2385060" y="1977929"/>
            <a:ext cx="50669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ESD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868812-5E68-B5F3-1DCB-FFE59259305C}"/>
              </a:ext>
            </a:extLst>
          </p:cNvPr>
          <p:cNvSpPr txBox="1"/>
          <p:nvPr/>
        </p:nvSpPr>
        <p:spPr>
          <a:xfrm>
            <a:off x="4480560" y="1977929"/>
            <a:ext cx="58505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8949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8341C0-5797-8A89-816C-32F326674089}"/>
              </a:ext>
            </a:extLst>
          </p:cNvPr>
          <p:cNvSpPr txBox="1"/>
          <p:nvPr/>
        </p:nvSpPr>
        <p:spPr>
          <a:xfrm>
            <a:off x="6195060" y="1977929"/>
            <a:ext cx="77885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78.44%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A19660-E973-B131-600B-33A4F4FC355F}"/>
              </a:ext>
            </a:extLst>
          </p:cNvPr>
          <p:cNvSpPr txBox="1"/>
          <p:nvPr/>
        </p:nvSpPr>
        <p:spPr>
          <a:xfrm>
            <a:off x="8862060" y="1977929"/>
            <a:ext cx="77885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94.66%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5B326B5-E1C9-CF29-0E8A-91EFDED08144}"/>
              </a:ext>
            </a:extLst>
          </p:cNvPr>
          <p:cNvSpPr/>
          <p:nvPr/>
        </p:nvSpPr>
        <p:spPr>
          <a:xfrm>
            <a:off x="571500" y="2357462"/>
            <a:ext cx="11049000" cy="43815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E40BC9-5962-4E89-F971-E3B7EE7C5B18}"/>
              </a:ext>
            </a:extLst>
          </p:cNvPr>
          <p:cNvSpPr txBox="1"/>
          <p:nvPr/>
        </p:nvSpPr>
        <p:spPr>
          <a:xfrm>
            <a:off x="670560" y="2416079"/>
            <a:ext cx="764453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Voxtral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CBACC6-A63D-87EA-D034-8FF1CBD03095}"/>
              </a:ext>
            </a:extLst>
          </p:cNvPr>
          <p:cNvSpPr txBox="1"/>
          <p:nvPr/>
        </p:nvSpPr>
        <p:spPr>
          <a:xfrm>
            <a:off x="2385060" y="2416079"/>
            <a:ext cx="128684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ESD (EN+CN)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685AE2-CC70-07B0-458E-E83BD9FBF1E3}"/>
              </a:ext>
            </a:extLst>
          </p:cNvPr>
          <p:cNvSpPr txBox="1"/>
          <p:nvPr/>
        </p:nvSpPr>
        <p:spPr>
          <a:xfrm>
            <a:off x="4480560" y="2416079"/>
            <a:ext cx="58505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2000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777AF38-E2F8-44D2-0483-90EAA35D8F76}"/>
              </a:ext>
            </a:extLst>
          </p:cNvPr>
          <p:cNvSpPr txBox="1"/>
          <p:nvPr/>
        </p:nvSpPr>
        <p:spPr>
          <a:xfrm>
            <a:off x="6195060" y="2416079"/>
            <a:ext cx="81443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93.80%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980BC0-9390-B520-537A-6D0CF7255B74}"/>
              </a:ext>
            </a:extLst>
          </p:cNvPr>
          <p:cNvSpPr txBox="1"/>
          <p:nvPr/>
        </p:nvSpPr>
        <p:spPr>
          <a:xfrm>
            <a:off x="8862060" y="2416079"/>
            <a:ext cx="77885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99.90%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4F9B873-ADD4-CCCB-708E-E56987A2263F}"/>
              </a:ext>
            </a:extLst>
          </p:cNvPr>
          <p:cNvSpPr/>
          <p:nvPr/>
        </p:nvSpPr>
        <p:spPr>
          <a:xfrm>
            <a:off x="571500" y="1519262"/>
            <a:ext cx="11049000" cy="1276350"/>
          </a:xfrm>
          <a:prstGeom prst="rect">
            <a:avLst/>
          </a:prstGeom>
          <a:noFill/>
          <a:ln w="9525" cap="flat">
            <a:solidFill>
              <a:srgbClr val="D0D7E0"/>
            </a:solidFill>
            <a:prstDash val="solid"/>
            <a:miter/>
          </a:ln>
        </p:spPr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588C1A-6F01-7581-568A-2F99672C4B5D}"/>
              </a:ext>
            </a:extLst>
          </p:cNvPr>
          <p:cNvSpPr txBox="1"/>
          <p:nvPr/>
        </p:nvSpPr>
        <p:spPr>
          <a:xfrm>
            <a:off x="571500" y="3636698"/>
            <a:ext cx="2461178" cy="3931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b="1" spc="0" baseline="0" dirty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Voxtral 按源情绪细分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8F878704-4580-1ED2-00C5-FB3464A81D29}"/>
              </a:ext>
            </a:extLst>
          </p:cNvPr>
          <p:cNvSpPr/>
          <p:nvPr/>
        </p:nvSpPr>
        <p:spPr>
          <a:xfrm>
            <a:off x="662940" y="4210051"/>
            <a:ext cx="2571750" cy="1143000"/>
          </a:xfrm>
          <a:custGeom>
            <a:avLst/>
            <a:gdLst>
              <a:gd name="csX0" fmla="*/ 38100 w 2571750"/>
              <a:gd name="csY0" fmla="*/ 0 h 1143000"/>
              <a:gd name="csX1" fmla="*/ 2533650 w 2571750"/>
              <a:gd name="csY1" fmla="*/ 0 h 1143000"/>
              <a:gd name="csX2" fmla="*/ 2571750 w 2571750"/>
              <a:gd name="csY2" fmla="*/ 38100 h 1143000"/>
              <a:gd name="csX3" fmla="*/ 2571750 w 2571750"/>
              <a:gd name="csY3" fmla="*/ 1104900 h 1143000"/>
              <a:gd name="csX4" fmla="*/ 2533650 w 2571750"/>
              <a:gd name="csY4" fmla="*/ 1143000 h 1143000"/>
              <a:gd name="csX5" fmla="*/ 38100 w 2571750"/>
              <a:gd name="csY5" fmla="*/ 1143000 h 1143000"/>
              <a:gd name="csX6" fmla="*/ 0 w 2571750"/>
              <a:gd name="csY6" fmla="*/ 1104900 h 1143000"/>
              <a:gd name="csX7" fmla="*/ 0 w 2571750"/>
              <a:gd name="csY7" fmla="*/ 38100 h 1143000"/>
              <a:gd name="csX8" fmla="*/ 38100 w 2571750"/>
              <a:gd name="csY8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71750" h="1143000">
                <a:moveTo>
                  <a:pt x="38100" y="0"/>
                </a:moveTo>
                <a:lnTo>
                  <a:pt x="2533650" y="0"/>
                </a:lnTo>
                <a:cubicBezTo>
                  <a:pt x="2554692" y="0"/>
                  <a:pt x="2571750" y="17058"/>
                  <a:pt x="2571750" y="38100"/>
                </a:cubicBezTo>
                <a:lnTo>
                  <a:pt x="2571750" y="1104900"/>
                </a:lnTo>
                <a:cubicBezTo>
                  <a:pt x="2571750" y="1125942"/>
                  <a:pt x="2554692" y="1143000"/>
                  <a:pt x="253365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27D0052-6C16-8BAA-B4B9-20D518E7E3A0}"/>
              </a:ext>
            </a:extLst>
          </p:cNvPr>
          <p:cNvSpPr txBox="1"/>
          <p:nvPr/>
        </p:nvSpPr>
        <p:spPr>
          <a:xfrm>
            <a:off x="1699710" y="4391386"/>
            <a:ext cx="498209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sad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6E79AD1-4B24-45E3-6E7D-252ED5527235}"/>
              </a:ext>
            </a:extLst>
          </p:cNvPr>
          <p:cNvSpPr txBox="1"/>
          <p:nvPr/>
        </p:nvSpPr>
        <p:spPr>
          <a:xfrm>
            <a:off x="1486262" y="4658756"/>
            <a:ext cx="925104" cy="544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96%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9F4D1869-2862-79FE-5232-5A6C43DEB6C0}"/>
              </a:ext>
            </a:extLst>
          </p:cNvPr>
          <p:cNvSpPr/>
          <p:nvPr/>
        </p:nvSpPr>
        <p:spPr>
          <a:xfrm>
            <a:off x="3425190" y="4210051"/>
            <a:ext cx="2571750" cy="1143000"/>
          </a:xfrm>
          <a:custGeom>
            <a:avLst/>
            <a:gdLst>
              <a:gd name="csX0" fmla="*/ 38100 w 2571750"/>
              <a:gd name="csY0" fmla="*/ 0 h 1143000"/>
              <a:gd name="csX1" fmla="*/ 2533650 w 2571750"/>
              <a:gd name="csY1" fmla="*/ 0 h 1143000"/>
              <a:gd name="csX2" fmla="*/ 2571750 w 2571750"/>
              <a:gd name="csY2" fmla="*/ 38100 h 1143000"/>
              <a:gd name="csX3" fmla="*/ 2571750 w 2571750"/>
              <a:gd name="csY3" fmla="*/ 1104900 h 1143000"/>
              <a:gd name="csX4" fmla="*/ 2533650 w 2571750"/>
              <a:gd name="csY4" fmla="*/ 1143000 h 1143000"/>
              <a:gd name="csX5" fmla="*/ 38100 w 2571750"/>
              <a:gd name="csY5" fmla="*/ 1143000 h 1143000"/>
              <a:gd name="csX6" fmla="*/ 0 w 2571750"/>
              <a:gd name="csY6" fmla="*/ 1104900 h 1143000"/>
              <a:gd name="csX7" fmla="*/ 0 w 2571750"/>
              <a:gd name="csY7" fmla="*/ 38100 h 1143000"/>
              <a:gd name="csX8" fmla="*/ 38100 w 2571750"/>
              <a:gd name="csY8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71750" h="1143000">
                <a:moveTo>
                  <a:pt x="38100" y="0"/>
                </a:moveTo>
                <a:lnTo>
                  <a:pt x="2533650" y="0"/>
                </a:lnTo>
                <a:cubicBezTo>
                  <a:pt x="2554692" y="0"/>
                  <a:pt x="2571750" y="17058"/>
                  <a:pt x="2571750" y="38100"/>
                </a:cubicBezTo>
                <a:lnTo>
                  <a:pt x="2571750" y="1104900"/>
                </a:lnTo>
                <a:cubicBezTo>
                  <a:pt x="2571750" y="1125942"/>
                  <a:pt x="2554692" y="1143000"/>
                  <a:pt x="253365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9604CDC-A79D-6884-06AE-5D0AADD75EAE}"/>
              </a:ext>
            </a:extLst>
          </p:cNvPr>
          <p:cNvSpPr txBox="1"/>
          <p:nvPr/>
        </p:nvSpPr>
        <p:spPr>
          <a:xfrm>
            <a:off x="4259786" y="4391386"/>
            <a:ext cx="902557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surprise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93C3F7B-C918-AAF2-0CE3-A10DFB363A93}"/>
              </a:ext>
            </a:extLst>
          </p:cNvPr>
          <p:cNvSpPr txBox="1"/>
          <p:nvPr/>
        </p:nvSpPr>
        <p:spPr>
          <a:xfrm>
            <a:off x="4248512" y="4658756"/>
            <a:ext cx="925104" cy="544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95%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D825D04-89B9-B969-41C7-6127A839C303}"/>
              </a:ext>
            </a:extLst>
          </p:cNvPr>
          <p:cNvSpPr/>
          <p:nvPr/>
        </p:nvSpPr>
        <p:spPr>
          <a:xfrm>
            <a:off x="6187440" y="4210051"/>
            <a:ext cx="2571750" cy="1143000"/>
          </a:xfrm>
          <a:custGeom>
            <a:avLst/>
            <a:gdLst>
              <a:gd name="csX0" fmla="*/ 38100 w 2571750"/>
              <a:gd name="csY0" fmla="*/ 0 h 1143000"/>
              <a:gd name="csX1" fmla="*/ 2533650 w 2571750"/>
              <a:gd name="csY1" fmla="*/ 0 h 1143000"/>
              <a:gd name="csX2" fmla="*/ 2571750 w 2571750"/>
              <a:gd name="csY2" fmla="*/ 38100 h 1143000"/>
              <a:gd name="csX3" fmla="*/ 2571750 w 2571750"/>
              <a:gd name="csY3" fmla="*/ 1104900 h 1143000"/>
              <a:gd name="csX4" fmla="*/ 2533650 w 2571750"/>
              <a:gd name="csY4" fmla="*/ 1143000 h 1143000"/>
              <a:gd name="csX5" fmla="*/ 38100 w 2571750"/>
              <a:gd name="csY5" fmla="*/ 1143000 h 1143000"/>
              <a:gd name="csX6" fmla="*/ 0 w 2571750"/>
              <a:gd name="csY6" fmla="*/ 1104900 h 1143000"/>
              <a:gd name="csX7" fmla="*/ 0 w 2571750"/>
              <a:gd name="csY7" fmla="*/ 38100 h 1143000"/>
              <a:gd name="csX8" fmla="*/ 38100 w 2571750"/>
              <a:gd name="csY8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71750" h="1143000">
                <a:moveTo>
                  <a:pt x="38100" y="0"/>
                </a:moveTo>
                <a:lnTo>
                  <a:pt x="2533650" y="0"/>
                </a:lnTo>
                <a:cubicBezTo>
                  <a:pt x="2554692" y="0"/>
                  <a:pt x="2571750" y="17058"/>
                  <a:pt x="2571750" y="38100"/>
                </a:cubicBezTo>
                <a:lnTo>
                  <a:pt x="2571750" y="1104900"/>
                </a:lnTo>
                <a:cubicBezTo>
                  <a:pt x="2571750" y="1125942"/>
                  <a:pt x="2554692" y="1143000"/>
                  <a:pt x="253365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BB1ADAF-63A8-E532-B4FC-55370289BB17}"/>
              </a:ext>
            </a:extLst>
          </p:cNvPr>
          <p:cNvSpPr txBox="1"/>
          <p:nvPr/>
        </p:nvSpPr>
        <p:spPr>
          <a:xfrm>
            <a:off x="7122821" y="4391386"/>
            <a:ext cx="700987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angry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F6FB9D6-1871-9368-15DC-024FD9AAA8CF}"/>
              </a:ext>
            </a:extLst>
          </p:cNvPr>
          <p:cNvSpPr txBox="1"/>
          <p:nvPr/>
        </p:nvSpPr>
        <p:spPr>
          <a:xfrm>
            <a:off x="7010762" y="4658756"/>
            <a:ext cx="925104" cy="544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92%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2190516A-5C51-F427-0473-EEE4FE8BF87D}"/>
              </a:ext>
            </a:extLst>
          </p:cNvPr>
          <p:cNvSpPr/>
          <p:nvPr/>
        </p:nvSpPr>
        <p:spPr>
          <a:xfrm>
            <a:off x="8949690" y="4210051"/>
            <a:ext cx="2571750" cy="1143000"/>
          </a:xfrm>
          <a:custGeom>
            <a:avLst/>
            <a:gdLst>
              <a:gd name="csX0" fmla="*/ 38100 w 2571750"/>
              <a:gd name="csY0" fmla="*/ 0 h 1143000"/>
              <a:gd name="csX1" fmla="*/ 2533650 w 2571750"/>
              <a:gd name="csY1" fmla="*/ 0 h 1143000"/>
              <a:gd name="csX2" fmla="*/ 2571750 w 2571750"/>
              <a:gd name="csY2" fmla="*/ 38100 h 1143000"/>
              <a:gd name="csX3" fmla="*/ 2571750 w 2571750"/>
              <a:gd name="csY3" fmla="*/ 1104900 h 1143000"/>
              <a:gd name="csX4" fmla="*/ 2533650 w 2571750"/>
              <a:gd name="csY4" fmla="*/ 1143000 h 1143000"/>
              <a:gd name="csX5" fmla="*/ 38100 w 2571750"/>
              <a:gd name="csY5" fmla="*/ 1143000 h 1143000"/>
              <a:gd name="csX6" fmla="*/ 0 w 2571750"/>
              <a:gd name="csY6" fmla="*/ 1104900 h 1143000"/>
              <a:gd name="csX7" fmla="*/ 0 w 2571750"/>
              <a:gd name="csY7" fmla="*/ 38100 h 1143000"/>
              <a:gd name="csX8" fmla="*/ 38100 w 2571750"/>
              <a:gd name="csY8" fmla="*/ 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71750" h="1143000">
                <a:moveTo>
                  <a:pt x="38100" y="0"/>
                </a:moveTo>
                <a:lnTo>
                  <a:pt x="2533650" y="0"/>
                </a:lnTo>
                <a:cubicBezTo>
                  <a:pt x="2554692" y="0"/>
                  <a:pt x="2571750" y="17058"/>
                  <a:pt x="2571750" y="38100"/>
                </a:cubicBezTo>
                <a:lnTo>
                  <a:pt x="2571750" y="1104900"/>
                </a:lnTo>
                <a:cubicBezTo>
                  <a:pt x="2571750" y="1125942"/>
                  <a:pt x="2554692" y="1143000"/>
                  <a:pt x="253365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37E00A8-7FB6-CB89-A909-A044441E34C8}"/>
              </a:ext>
            </a:extLst>
          </p:cNvPr>
          <p:cNvSpPr txBox="1"/>
          <p:nvPr/>
        </p:nvSpPr>
        <p:spPr>
          <a:xfrm>
            <a:off x="9822842" y="4391386"/>
            <a:ext cx="825445" cy="34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neutral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6330E9-FDAE-535E-8B38-3A9655DE767C}"/>
              </a:ext>
            </a:extLst>
          </p:cNvPr>
          <p:cNvSpPr txBox="1"/>
          <p:nvPr/>
        </p:nvSpPr>
        <p:spPr>
          <a:xfrm>
            <a:off x="9773012" y="4658756"/>
            <a:ext cx="925104" cy="544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92%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BBF9244-B609-DAF3-602C-ECF2352A7654}"/>
              </a:ext>
            </a:extLst>
          </p:cNvPr>
          <p:cNvSpPr txBox="1"/>
          <p:nvPr/>
        </p:nvSpPr>
        <p:spPr>
          <a:xfrm>
            <a:off x="11395003" y="6500838"/>
            <a:ext cx="316936" cy="242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999999"/>
                </a:solidFill>
                <a:latin typeface="微软雅黑"/>
                <a:ea typeface="微软雅黑"/>
                <a:sym typeface="微软雅黑"/>
                <a:rtl val="0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F1E79A-77C7-B7AF-F603-98EAF28840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FD5F52-D604-029D-0E09-C687BAFD0497}"/>
              </a:ext>
            </a:extLst>
          </p:cNvPr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F9DEA4-80EF-5BB8-17A8-1B6C6CA9A110}"/>
              </a:ext>
            </a:extLst>
          </p:cNvPr>
          <p:cNvSpPr txBox="1"/>
          <p:nvPr/>
        </p:nvSpPr>
        <p:spPr>
          <a:xfrm>
            <a:off x="289560" y="73240"/>
            <a:ext cx="3649980" cy="418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白盒实验：语义保持与扰动质量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96B0B0-1EF2-B855-CCB9-2A0698DF51F4}"/>
              </a:ext>
            </a:extLst>
          </p:cNvPr>
          <p:cNvSpPr/>
          <p:nvPr/>
        </p:nvSpPr>
        <p:spPr>
          <a:xfrm>
            <a:off x="571500" y="857250"/>
            <a:ext cx="11049000" cy="40005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211F82-3FA7-2B4A-21C6-8BDDE6291415}"/>
              </a:ext>
            </a:extLst>
          </p:cNvPr>
          <p:cNvSpPr txBox="1"/>
          <p:nvPr/>
        </p:nvSpPr>
        <p:spPr>
          <a:xfrm>
            <a:off x="670560" y="896817"/>
            <a:ext cx="52578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指标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F068FD-FE75-4B6A-9EF8-F406FFE1B62F}"/>
              </a:ext>
            </a:extLst>
          </p:cNvPr>
          <p:cNvSpPr txBox="1"/>
          <p:nvPr/>
        </p:nvSpPr>
        <p:spPr>
          <a:xfrm>
            <a:off x="3909060" y="896817"/>
            <a:ext cx="960265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OpenS2S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C77EF9-330D-8618-10B1-F0E2B46F5D8C}"/>
              </a:ext>
            </a:extLst>
          </p:cNvPr>
          <p:cNvSpPr txBox="1"/>
          <p:nvPr/>
        </p:nvSpPr>
        <p:spPr>
          <a:xfrm>
            <a:off x="7338060" y="896817"/>
            <a:ext cx="811836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rPr>
              <a:t>Voxtral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9DB737-7C90-7EF3-2FAE-FC0A47022773}"/>
              </a:ext>
            </a:extLst>
          </p:cNvPr>
          <p:cNvSpPr/>
          <p:nvPr/>
        </p:nvSpPr>
        <p:spPr>
          <a:xfrm>
            <a:off x="571500" y="1257300"/>
            <a:ext cx="11049000" cy="4381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0577B6-C399-551B-5A7F-E7C3026AB99A}"/>
              </a:ext>
            </a:extLst>
          </p:cNvPr>
          <p:cNvSpPr txBox="1"/>
          <p:nvPr/>
        </p:nvSpPr>
        <p:spPr>
          <a:xfrm>
            <a:off x="670560" y="1315917"/>
            <a:ext cx="104013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语义保留率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8ECD9-79A1-C7D0-6153-6399F08D3B2C}"/>
              </a:ext>
            </a:extLst>
          </p:cNvPr>
          <p:cNvSpPr txBox="1"/>
          <p:nvPr/>
        </p:nvSpPr>
        <p:spPr>
          <a:xfrm>
            <a:off x="3909060" y="1315917"/>
            <a:ext cx="2006126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19.43%（LLM Judge）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1A2364-78CD-D55C-3E34-BEFC60A02E41}"/>
              </a:ext>
            </a:extLst>
          </p:cNvPr>
          <p:cNvSpPr txBox="1"/>
          <p:nvPr/>
        </p:nvSpPr>
        <p:spPr>
          <a:xfrm>
            <a:off x="7338060" y="1315917"/>
            <a:ext cx="2029316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39.75%（Cosine Sim）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B11A31-62A0-3108-0BA1-AFC27295A525}"/>
              </a:ext>
            </a:extLst>
          </p:cNvPr>
          <p:cNvSpPr/>
          <p:nvPr/>
        </p:nvSpPr>
        <p:spPr>
          <a:xfrm>
            <a:off x="571500" y="1695450"/>
            <a:ext cx="11049000" cy="43815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70B02C-D891-1C2A-396B-CCB18CAEAA2B}"/>
              </a:ext>
            </a:extLst>
          </p:cNvPr>
          <p:cNvSpPr txBox="1"/>
          <p:nvPr/>
        </p:nvSpPr>
        <p:spPr>
          <a:xfrm>
            <a:off x="670560" y="1754067"/>
            <a:ext cx="1040130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联合成功率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81CFB7-8DA0-294D-1289-8B670C9DE40E}"/>
              </a:ext>
            </a:extLst>
          </p:cNvPr>
          <p:cNvSpPr txBox="1"/>
          <p:nvPr/>
        </p:nvSpPr>
        <p:spPr>
          <a:xfrm>
            <a:off x="3909060" y="1754067"/>
            <a:ext cx="81443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15.07%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979820-2BA6-F769-E887-C8C1095726EA}"/>
              </a:ext>
            </a:extLst>
          </p:cNvPr>
          <p:cNvSpPr txBox="1"/>
          <p:nvPr/>
        </p:nvSpPr>
        <p:spPr>
          <a:xfrm>
            <a:off x="7338060" y="1754067"/>
            <a:ext cx="814432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CC0000"/>
                </a:solidFill>
                <a:latin typeface="微软雅黑"/>
                <a:ea typeface="微软雅黑"/>
                <a:sym typeface="微软雅黑"/>
                <a:rtl val="0"/>
              </a:rPr>
              <a:t>36.40%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3B2637-46CF-20A7-FF9A-94246F33CAB5}"/>
              </a:ext>
            </a:extLst>
          </p:cNvPr>
          <p:cNvSpPr/>
          <p:nvPr/>
        </p:nvSpPr>
        <p:spPr>
          <a:xfrm>
            <a:off x="571500" y="2133600"/>
            <a:ext cx="11049000" cy="438150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9539DC-FDF8-68A3-844D-6C1E01EF9144}"/>
              </a:ext>
            </a:extLst>
          </p:cNvPr>
          <p:cNvSpPr txBox="1"/>
          <p:nvPr/>
        </p:nvSpPr>
        <p:spPr>
          <a:xfrm>
            <a:off x="670560" y="2192217"/>
            <a:ext cx="926778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平均 SNR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823A42-CBC5-AE00-C21D-381D089CEAA3}"/>
              </a:ext>
            </a:extLst>
          </p:cNvPr>
          <p:cNvSpPr txBox="1"/>
          <p:nvPr/>
        </p:nvSpPr>
        <p:spPr>
          <a:xfrm>
            <a:off x="3909060" y="2192217"/>
            <a:ext cx="894297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16.43 dB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879AA7-0311-3BE4-18F7-0F880FE8D9AB}"/>
              </a:ext>
            </a:extLst>
          </p:cNvPr>
          <p:cNvSpPr txBox="1"/>
          <p:nvPr/>
        </p:nvSpPr>
        <p:spPr>
          <a:xfrm>
            <a:off x="7338060" y="2192217"/>
            <a:ext cx="894297" cy="31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20.60 dB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2DF205-BBB9-533E-439A-ACFF34BEB578}"/>
              </a:ext>
            </a:extLst>
          </p:cNvPr>
          <p:cNvSpPr/>
          <p:nvPr/>
        </p:nvSpPr>
        <p:spPr>
          <a:xfrm>
            <a:off x="571500" y="857250"/>
            <a:ext cx="11049000" cy="1714500"/>
          </a:xfrm>
          <a:prstGeom prst="rect">
            <a:avLst/>
          </a:prstGeom>
          <a:noFill/>
          <a:ln w="9525" cap="flat">
            <a:solidFill>
              <a:srgbClr val="D0D7E0"/>
            </a:solidFill>
            <a:prstDash val="solid"/>
            <a:miter/>
          </a:ln>
        </p:spPr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2D610EC-C1B2-D1A2-FDA9-11B5A7AE0697}"/>
              </a:ext>
            </a:extLst>
          </p:cNvPr>
          <p:cNvSpPr txBox="1"/>
          <p:nvPr/>
        </p:nvSpPr>
        <p:spPr>
          <a:xfrm>
            <a:off x="480060" y="2855647"/>
            <a:ext cx="1097280" cy="3931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关键发现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27A349-5B26-7AA6-F0A3-F5C08EB515A1}"/>
              </a:ext>
            </a:extLst>
          </p:cNvPr>
          <p:cNvSpPr txBox="1"/>
          <p:nvPr/>
        </p:nvSpPr>
        <p:spPr>
          <a:xfrm>
            <a:off x="670560" y="3304428"/>
            <a:ext cx="3480222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语义保持是联合成功率的限制因素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C5DBBE-279C-279E-1E3E-860862BD2838}"/>
              </a:ext>
            </a:extLst>
          </p:cNvPr>
          <p:cNvSpPr txBox="1"/>
          <p:nvPr/>
        </p:nvSpPr>
        <p:spPr>
          <a:xfrm>
            <a:off x="670560" y="3733053"/>
            <a:ext cx="5664179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 dirty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Voxtral 优于 OpenS2S，可能与架构差异、模型质量有关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A2126F-B6BF-6897-F71B-64CFDBB1A7A0}"/>
              </a:ext>
            </a:extLst>
          </p:cNvPr>
          <p:cNvSpPr txBox="1"/>
          <p:nvPr/>
        </p:nvSpPr>
        <p:spPr>
          <a:xfrm>
            <a:off x="480060" y="4379647"/>
            <a:ext cx="868680" cy="3931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b="1" spc="0" baseline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下一步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BD43811-CF4A-2AD7-839C-1B345C86D352}"/>
              </a:ext>
            </a:extLst>
          </p:cNvPr>
          <p:cNvSpPr txBox="1"/>
          <p:nvPr/>
        </p:nvSpPr>
        <p:spPr>
          <a:xfrm>
            <a:off x="670560" y="4828428"/>
            <a:ext cx="3913749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Q3 实验：验证传统 SER 攻击迁移效果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837D18-E4F5-736C-E8B3-6B9081773F32}"/>
              </a:ext>
            </a:extLst>
          </p:cNvPr>
          <p:cNvSpPr txBox="1"/>
          <p:nvPr/>
        </p:nvSpPr>
        <p:spPr>
          <a:xfrm>
            <a:off x="670560" y="5238003"/>
            <a:ext cx="5745777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方法论迭代：引入 Q4 启示（soft distribution steering）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2CD3688-AC0A-C4D5-88CF-A46B1BE40453}"/>
              </a:ext>
            </a:extLst>
          </p:cNvPr>
          <p:cNvSpPr txBox="1"/>
          <p:nvPr/>
        </p:nvSpPr>
        <p:spPr>
          <a:xfrm>
            <a:off x="670560" y="5647578"/>
            <a:ext cx="1594272" cy="368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50" spc="0" baseline="0">
                <a:ln/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• 黑盒攻击探索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9EC8087-E64F-B20D-776F-F50565E2DEE2}"/>
              </a:ext>
            </a:extLst>
          </p:cNvPr>
          <p:cNvSpPr txBox="1"/>
          <p:nvPr/>
        </p:nvSpPr>
        <p:spPr>
          <a:xfrm>
            <a:off x="11395003" y="6500838"/>
            <a:ext cx="316936" cy="242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999999"/>
                </a:solidFill>
                <a:latin typeface="微软雅黑"/>
                <a:ea typeface="微软雅黑"/>
                <a:sym typeface="微软雅黑"/>
                <a:rtl val="0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71F966-E475-6312-F605-7A96BA7192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E41EC2-2ECF-D25B-39F5-CDBD6DAE80F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3366"/>
          </a:solidFill>
          <a:ln w="9525" cap="flat">
            <a:noFill/>
            <a:prstDash val="solid"/>
            <a:miter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5681CF-699D-FA71-4EB8-6282F7B66A7D}"/>
              </a:ext>
            </a:extLst>
          </p:cNvPr>
          <p:cNvSpPr txBox="1"/>
          <p:nvPr/>
        </p:nvSpPr>
        <p:spPr>
          <a:xfrm>
            <a:off x="4338794" y="2802608"/>
            <a:ext cx="34142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800" b="1" spc="0" baseline="0" dirty="0">
                <a:ln/>
                <a:solidFill>
                  <a:srgbClr val="003366"/>
                </a:solidFill>
                <a:latin typeface="微软雅黑"/>
                <a:ea typeface="微软雅黑"/>
                <a:sym typeface="微软雅黑"/>
                <a:rtl val="0"/>
              </a:rPr>
              <a:t>Thank You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F26F215-1CC2-B081-9A4F-BBDACE61A949}"/>
              </a:ext>
            </a:extLst>
          </p:cNvPr>
          <p:cNvSpPr/>
          <p:nvPr/>
        </p:nvSpPr>
        <p:spPr>
          <a:xfrm>
            <a:off x="3759896" y="3644291"/>
            <a:ext cx="4572000" cy="9525"/>
          </a:xfrm>
          <a:custGeom>
            <a:avLst/>
            <a:gdLst>
              <a:gd name="csX0" fmla="*/ 0 w 4572000"/>
              <a:gd name="csY0" fmla="*/ 0 h 9525"/>
              <a:gd name="csX1" fmla="*/ 4572000 w 45720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ln w="19050" cap="flat">
            <a:solidFill>
              <a:srgbClr val="003366"/>
            </a:solidFill>
            <a:prstDash val="solid"/>
            <a:miter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5D65BF-7357-CF2A-074F-5C605B5B73C2}"/>
              </a:ext>
            </a:extLst>
          </p:cNvPr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 w="9525" cap="flat">
            <a:noFill/>
            <a:prstDash val="solid"/>
            <a:miter/>
          </a:ln>
        </p:spPr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0A4468-BED5-2AB7-82C1-4874C61DB8F5}"/>
              </a:ext>
            </a:extLst>
          </p:cNvPr>
          <p:cNvSpPr txBox="1"/>
          <p:nvPr/>
        </p:nvSpPr>
        <p:spPr>
          <a:xfrm>
            <a:off x="11395003" y="6481788"/>
            <a:ext cx="316936" cy="242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999999"/>
                </a:solidFill>
                <a:latin typeface="微软雅黑"/>
                <a:ea typeface="微软雅黑"/>
                <a:sym typeface="微软雅黑"/>
                <a:rtl val="0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1734</Words>
  <Application>Microsoft Office PowerPoint</Application>
  <PresentationFormat>宽屏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微软雅黑</vt:lpstr>
      <vt:lpstr>Arial</vt:lpstr>
      <vt:lpstr>Calibri</vt:lpstr>
      <vt:lpstr>Consolas</vt:lpstr>
      <vt:lpstr>Segoe UI 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 li</dc:creator>
  <cp:keywords/>
  <dc:description>generated using python-pptx</dc:description>
  <cp:lastModifiedBy>x li</cp:lastModifiedBy>
  <cp:revision>6</cp:revision>
  <dcterms:created xsi:type="dcterms:W3CDTF">2013-01-27T09:14:16Z</dcterms:created>
  <dcterms:modified xsi:type="dcterms:W3CDTF">2026-03-19T06:13:49Z</dcterms:modified>
  <cp:category/>
</cp:coreProperties>
</file>